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0" y="3246120"/>
            <a:ext cx="1097280" cy="73152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C9D4E2"/>
                </a:solidFill>
                <a:latin typeface="맑은 고딕"/>
              </a:rPr>
              <a:t>2026-05-13 과제 미팅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Sensor Monitor 앱</a:t>
            </a:r>
          </a:p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베데스다 iCReaT DCT 서버 전환 진행 현황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480560"/>
            <a:ext cx="10058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rgbClr val="B8C6D9"/>
                </a:solidFill>
                <a:latin typeface="맑은 고딕"/>
              </a:rPr>
              <a:t>기존</a:t>
            </a:r>
            <a:r>
              <a:rPr sz="1800" b="0" dirty="0">
                <a:solidFill>
                  <a:srgbClr val="B8C6D9"/>
                </a:solidFill>
                <a:latin typeface="맑은 고딕"/>
              </a:rPr>
              <a:t> CSV </a:t>
            </a:r>
            <a:r>
              <a:rPr sz="1800" b="0" dirty="0" err="1">
                <a:solidFill>
                  <a:srgbClr val="B8C6D9"/>
                </a:solidFill>
                <a:latin typeface="맑은 고딕"/>
              </a:rPr>
              <a:t>업로드</a:t>
            </a:r>
            <a:r>
              <a:rPr sz="1800" b="0" dirty="0">
                <a:solidFill>
                  <a:srgbClr val="B8C6D9"/>
                </a:solidFill>
                <a:latin typeface="맑은 고딕"/>
              </a:rPr>
              <a:t> </a:t>
            </a:r>
            <a:r>
              <a:rPr sz="1800" b="0" dirty="0" err="1">
                <a:solidFill>
                  <a:srgbClr val="B8C6D9"/>
                </a:solidFill>
                <a:latin typeface="맑은 고딕"/>
              </a:rPr>
              <a:t>구조</a:t>
            </a:r>
            <a:r>
              <a:rPr sz="1800" b="0" dirty="0">
                <a:solidFill>
                  <a:srgbClr val="B8C6D9"/>
                </a:solidFill>
                <a:latin typeface="맑은 고딕"/>
              </a:rPr>
              <a:t> </a:t>
            </a:r>
            <a:r>
              <a:rPr sz="1800" b="0" dirty="0" err="1">
                <a:solidFill>
                  <a:srgbClr val="B8C6D9"/>
                </a:solidFill>
                <a:latin typeface="맑은 고딕"/>
              </a:rPr>
              <a:t>점검</a:t>
            </a:r>
            <a:r>
              <a:rPr sz="1800" b="0" dirty="0">
                <a:solidFill>
                  <a:srgbClr val="B8C6D9"/>
                </a:solidFill>
                <a:latin typeface="맑은 고딕"/>
              </a:rPr>
              <a:t> · </a:t>
            </a:r>
            <a:r>
              <a:rPr sz="1800" b="0" dirty="0" err="1">
                <a:solidFill>
                  <a:srgbClr val="B8C6D9"/>
                </a:solidFill>
                <a:latin typeface="맑은 고딕"/>
              </a:rPr>
              <a:t>베데스다</a:t>
            </a:r>
            <a:r>
              <a:rPr sz="1800" b="0" dirty="0">
                <a:solidFill>
                  <a:srgbClr val="B8C6D9"/>
                </a:solidFill>
                <a:latin typeface="맑은 고딕"/>
              </a:rPr>
              <a:t> </a:t>
            </a:r>
            <a:r>
              <a:rPr sz="1800" b="0" dirty="0" err="1">
                <a:solidFill>
                  <a:srgbClr val="B8C6D9"/>
                </a:solidFill>
                <a:latin typeface="맑은 고딕"/>
              </a:rPr>
              <a:t>회신</a:t>
            </a:r>
            <a:r>
              <a:rPr sz="1800" b="0" dirty="0">
                <a:solidFill>
                  <a:srgbClr val="B8C6D9"/>
                </a:solidFill>
                <a:latin typeface="맑은 고딕"/>
              </a:rPr>
              <a:t> </a:t>
            </a:r>
            <a:r>
              <a:rPr sz="1800" b="0" dirty="0" err="1">
                <a:solidFill>
                  <a:srgbClr val="B8C6D9"/>
                </a:solidFill>
                <a:latin typeface="맑은 고딕"/>
              </a:rPr>
              <a:t>정리</a:t>
            </a:r>
            <a:r>
              <a:rPr sz="1800" b="0" dirty="0">
                <a:solidFill>
                  <a:srgbClr val="B8C6D9"/>
                </a:solidFill>
                <a:latin typeface="맑은 고딕"/>
              </a:rPr>
              <a:t> · 1차 </a:t>
            </a:r>
            <a:r>
              <a:rPr sz="1800" b="0" dirty="0" err="1">
                <a:solidFill>
                  <a:srgbClr val="B8C6D9"/>
                </a:solidFill>
                <a:latin typeface="맑은 고딕"/>
              </a:rPr>
              <a:t>연동</a:t>
            </a:r>
            <a:r>
              <a:rPr sz="1800" b="0" dirty="0">
                <a:solidFill>
                  <a:srgbClr val="B8C6D9"/>
                </a:solidFill>
                <a:latin typeface="맑은 고딕"/>
              </a:rPr>
              <a:t> </a:t>
            </a:r>
            <a:r>
              <a:rPr sz="1800" b="0" dirty="0" err="1">
                <a:solidFill>
                  <a:srgbClr val="B8C6D9"/>
                </a:solidFill>
                <a:latin typeface="맑은 고딕"/>
              </a:rPr>
              <a:t>계획</a:t>
            </a:r>
            <a:r>
              <a:rPr sz="1800" b="0" dirty="0">
                <a:solidFill>
                  <a:srgbClr val="B8C6D9"/>
                </a:solidFill>
                <a:latin typeface="맑은 고딕"/>
              </a:rPr>
              <a:t> </a:t>
            </a:r>
            <a:r>
              <a:rPr sz="1800" b="0" dirty="0" err="1">
                <a:solidFill>
                  <a:srgbClr val="B8C6D9"/>
                </a:solidFill>
                <a:latin typeface="맑은 고딕"/>
              </a:rPr>
              <a:t>공유</a:t>
            </a:r>
            <a:endParaRPr sz="1800" b="0" dirty="0">
              <a:solidFill>
                <a:srgbClr val="B8C6D9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" y="5943600"/>
            <a:ext cx="10058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 err="1">
                <a:solidFill>
                  <a:srgbClr val="9AAABE"/>
                </a:solidFill>
                <a:latin typeface="맑은 고딕"/>
              </a:rPr>
              <a:t>발표자</a:t>
            </a:r>
            <a:r>
              <a:rPr sz="1400" b="0" dirty="0">
                <a:solidFill>
                  <a:srgbClr val="9AAABE"/>
                </a:solidFill>
                <a:latin typeface="맑은 고딕"/>
              </a:rPr>
              <a:t>: </a:t>
            </a:r>
            <a:r>
              <a:rPr lang="ko-KR" altLang="en-US" sz="1400" dirty="0" err="1">
                <a:solidFill>
                  <a:srgbClr val="9AAABE"/>
                </a:solidFill>
                <a:latin typeface="맑은 고딕"/>
              </a:rPr>
              <a:t>임상택</a:t>
            </a:r>
            <a:r>
              <a:rPr sz="1400" b="0" dirty="0">
                <a:solidFill>
                  <a:srgbClr val="9AAABE"/>
                </a:solidFill>
                <a:latin typeface="맑은 고딕"/>
              </a:rPr>
              <a:t>     |     2026-05-13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맑은 고딕"/>
              </a:rPr>
              <a:t>발표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058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 err="1">
                <a:solidFill>
                  <a:srgbClr val="666666"/>
                </a:solidFill>
                <a:latin typeface="맑은 고딕"/>
              </a:rPr>
              <a:t>오늘</a:t>
            </a:r>
            <a:r>
              <a:rPr sz="1400" b="0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66666"/>
                </a:solidFill>
                <a:latin typeface="맑은 고딕"/>
              </a:rPr>
              <a:t>공유할</a:t>
            </a:r>
            <a:r>
              <a:rPr sz="1400" b="0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66666"/>
                </a:solidFill>
                <a:latin typeface="맑은 고딕"/>
              </a:rPr>
              <a:t>내용</a:t>
            </a:r>
            <a:r>
              <a:rPr sz="1400" b="0" dirty="0">
                <a:solidFill>
                  <a:srgbClr val="666666"/>
                </a:solidFill>
                <a:latin typeface="맑은 고딕"/>
              </a:rPr>
              <a:t> 핵</a:t>
            </a:r>
            <a:r>
              <a:rPr lang="ko-KR" altLang="en-US" sz="1400" b="0" dirty="0">
                <a:solidFill>
                  <a:srgbClr val="666666"/>
                </a:solidFill>
                <a:latin typeface="맑은 고딕"/>
              </a:rPr>
              <a:t>심</a:t>
            </a:r>
            <a:endParaRPr sz="1400" b="0" dirty="0">
              <a:solidFill>
                <a:srgbClr val="666666"/>
              </a:solidFill>
              <a:latin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731520" cy="54864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Sensor Monitor → 베데스다 iCReaT DCT 서버 전환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맑은 고딕"/>
              </a:rPr>
              <a:t>2 /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9728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400" b="1" dirty="0">
                <a:solidFill>
                  <a:srgbClr val="333333"/>
                </a:solidFill>
                <a:latin typeface="맑은 고딕"/>
              </a:rPr>
              <a:t>Sensor Monitor </a:t>
            </a:r>
            <a:r>
              <a:rPr sz="2400" b="1" dirty="0" err="1">
                <a:solidFill>
                  <a:srgbClr val="333333"/>
                </a:solidFill>
                <a:latin typeface="맑은 고딕"/>
              </a:rPr>
              <a:t>앱의</a:t>
            </a:r>
            <a:r>
              <a:rPr sz="2400" b="1" dirty="0">
                <a:solidFill>
                  <a:srgbClr val="333333"/>
                </a:solidFill>
                <a:latin typeface="맑은 고딕"/>
              </a:rPr>
              <a:t> CSV </a:t>
            </a:r>
            <a:r>
              <a:rPr sz="2400" b="1" dirty="0" err="1">
                <a:solidFill>
                  <a:srgbClr val="333333"/>
                </a:solidFill>
                <a:latin typeface="맑은 고딕"/>
              </a:rPr>
              <a:t>업로드</a:t>
            </a:r>
            <a:r>
              <a:rPr sz="24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맑은 고딕"/>
              </a:rPr>
              <a:t>대상을</a:t>
            </a:r>
            <a:r>
              <a:rPr sz="24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맑은 고딕"/>
              </a:rPr>
              <a:t>베데스다</a:t>
            </a:r>
            <a:r>
              <a:rPr sz="24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맑은 고딕"/>
              </a:rPr>
              <a:t>iCReaT</a:t>
            </a:r>
            <a:r>
              <a:rPr sz="2400" b="1" dirty="0">
                <a:solidFill>
                  <a:srgbClr val="333333"/>
                </a:solidFill>
                <a:latin typeface="맑은 고딕"/>
              </a:rPr>
              <a:t> DCT </a:t>
            </a:r>
            <a:r>
              <a:rPr sz="2400" b="1" dirty="0" err="1">
                <a:solidFill>
                  <a:srgbClr val="333333"/>
                </a:solidFill>
                <a:latin typeface="맑은 고딕"/>
              </a:rPr>
              <a:t>서버로</a:t>
            </a:r>
            <a:r>
              <a:rPr sz="24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맑은 고딕"/>
              </a:rPr>
              <a:t>전환하기</a:t>
            </a:r>
            <a:r>
              <a:rPr sz="24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맑은 고딕"/>
              </a:rPr>
              <a:t>위한</a:t>
            </a:r>
            <a:r>
              <a:rPr lang="en-US" altLang="ko-KR" sz="24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lang="ko-KR" altLang="en-US" sz="2400" b="1" dirty="0">
                <a:solidFill>
                  <a:srgbClr val="333333"/>
                </a:solidFill>
                <a:latin typeface="맑은 고딕"/>
              </a:rPr>
              <a:t>사전 정리와 협의 진행 상황을 공유합니다</a:t>
            </a:r>
            <a:r>
              <a:rPr lang="en-US" altLang="ko-KR" sz="2400" b="1" dirty="0">
                <a:solidFill>
                  <a:srgbClr val="333333"/>
                </a:solidFill>
                <a:latin typeface="맑은 고딕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26080"/>
            <a:ext cx="3611880" cy="27432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2926080"/>
            <a:ext cx="3611880" cy="73152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15468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E87422"/>
                </a:solidFill>
                <a:latin typeface="맑은 고딕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F2A4A"/>
                </a:solidFill>
                <a:latin typeface="맑은 고딕"/>
              </a:rPr>
              <a:t>기존 구조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26280"/>
            <a:ext cx="3063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기존 앱·서버의 CSV 업로드 구조를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코드 기준으로 확인했습니다.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2926080"/>
            <a:ext cx="3611880" cy="27432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0" y="2926080"/>
            <a:ext cx="3611880" cy="73152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63440" y="315468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E87422"/>
                </a:solidFill>
                <a:latin typeface="맑은 고딕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88620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F2A4A"/>
                </a:solidFill>
                <a:latin typeface="맑은 고딕"/>
              </a:rPr>
              <a:t>변경사항 정리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526280"/>
            <a:ext cx="3063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베데스다 측 답변을 바탕으로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필요한 변경사항을 정리했습니다.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2926080"/>
            <a:ext cx="3611880" cy="27432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38160" y="2926080"/>
            <a:ext cx="3611880" cy="73152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0" y="315468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E87422"/>
                </a:solidFill>
                <a:latin typeface="맑은 고딕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88620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F2A4A"/>
                </a:solidFill>
                <a:latin typeface="맑은 고딕"/>
              </a:rPr>
              <a:t>작업 분리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526280"/>
            <a:ext cx="3063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바로 구현 가능한 부분과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베데스다 확인이 필요한 부분을 분리했습니다.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맑은 고딕"/>
              </a:rPr>
              <a:t>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맑은 고딕"/>
              </a:rPr>
              <a:t>기존 전송 구조와 이번 작업의 범위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731520" cy="54864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Sensor Monitor → 베데스다 iCReaT DCT 서버 전환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맑은 고딕"/>
              </a:rPr>
              <a:t>3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5212080" cy="42062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0F2A4A"/>
                </a:solidFill>
                <a:latin typeface="맑은 고딕"/>
              </a:rPr>
              <a:t>기존 구조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377440"/>
            <a:ext cx="548640" cy="45720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606040"/>
            <a:ext cx="4846320" cy="1308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 dirty="0">
                <a:solidFill>
                  <a:srgbClr val="E87422"/>
                </a:solidFill>
                <a:latin typeface="맑은 고딕"/>
              </a:rPr>
              <a:t>■  </a:t>
            </a:r>
            <a:r>
              <a:rPr sz="1500" b="0" dirty="0" err="1">
                <a:solidFill>
                  <a:srgbClr val="333333"/>
                </a:solidFill>
                <a:latin typeface="맑은 고딕"/>
              </a:rPr>
              <a:t>전송</a:t>
            </a:r>
            <a:r>
              <a:rPr sz="150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333333"/>
                </a:solidFill>
                <a:latin typeface="맑은 고딕"/>
              </a:rPr>
              <a:t>대상</a:t>
            </a:r>
            <a:r>
              <a:rPr sz="1500" b="0" dirty="0">
                <a:solidFill>
                  <a:srgbClr val="333333"/>
                </a:solidFill>
                <a:latin typeface="맑은 고딕"/>
              </a:rPr>
              <a:t>: </a:t>
            </a:r>
            <a:r>
              <a:rPr lang="ko-KR" altLang="en-US" sz="1500" b="0" dirty="0">
                <a:solidFill>
                  <a:srgbClr val="333333"/>
                </a:solidFill>
                <a:latin typeface="맑은 고딕"/>
              </a:rPr>
              <a:t>기존</a:t>
            </a:r>
            <a:r>
              <a:rPr sz="150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333333"/>
                </a:solidFill>
                <a:latin typeface="맑은 고딕"/>
              </a:rPr>
              <a:t>서버</a:t>
            </a:r>
            <a:endParaRPr sz="1500" b="0" dirty="0">
              <a:solidFill>
                <a:srgbClr val="333333"/>
              </a:solidFill>
              <a:latin typeface="맑은 고딕"/>
            </a:endParaRPr>
          </a:p>
          <a:p>
            <a:pPr>
              <a:spcAft>
                <a:spcPts val="1000"/>
              </a:spcAft>
            </a:pPr>
            <a:r>
              <a:rPr sz="1500" b="1" dirty="0">
                <a:solidFill>
                  <a:srgbClr val="E87422"/>
                </a:solidFill>
                <a:latin typeface="맑은 고딕"/>
              </a:rPr>
              <a:t>■  </a:t>
            </a:r>
            <a:r>
              <a:rPr sz="1500" b="0" dirty="0" err="1">
                <a:solidFill>
                  <a:srgbClr val="333333"/>
                </a:solidFill>
                <a:latin typeface="맑은 고딕"/>
              </a:rPr>
              <a:t>전송</a:t>
            </a:r>
            <a:r>
              <a:rPr sz="150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333333"/>
                </a:solidFill>
                <a:latin typeface="맑은 고딕"/>
              </a:rPr>
              <a:t>방식</a:t>
            </a:r>
            <a:r>
              <a:rPr sz="1500" b="0" dirty="0">
                <a:solidFill>
                  <a:srgbClr val="333333"/>
                </a:solidFill>
                <a:latin typeface="맑은 고딕"/>
              </a:rPr>
              <a:t>: multipart/form-data</a:t>
            </a:r>
          </a:p>
          <a:p>
            <a:pPr>
              <a:spcAft>
                <a:spcPts val="1000"/>
              </a:spcAft>
            </a:pPr>
            <a:r>
              <a:rPr sz="1500" b="1" dirty="0">
                <a:solidFill>
                  <a:srgbClr val="E87422"/>
                </a:solidFill>
                <a:latin typeface="맑은 고딕"/>
              </a:rPr>
              <a:t>■  </a:t>
            </a:r>
            <a:r>
              <a:rPr sz="1500" b="0" dirty="0" err="1">
                <a:solidFill>
                  <a:srgbClr val="333333"/>
                </a:solidFill>
                <a:latin typeface="맑은 고딕"/>
              </a:rPr>
              <a:t>전송</a:t>
            </a:r>
            <a:r>
              <a:rPr sz="150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333333"/>
                </a:solidFill>
                <a:latin typeface="맑은 고딕"/>
              </a:rPr>
              <a:t>필드</a:t>
            </a:r>
            <a:r>
              <a:rPr sz="1500" b="0" dirty="0">
                <a:solidFill>
                  <a:srgbClr val="333333"/>
                </a:solidFill>
                <a:latin typeface="맑은 고딕"/>
              </a:rPr>
              <a:t>: </a:t>
            </a:r>
            <a:r>
              <a:rPr sz="1500" b="0" dirty="0" err="1">
                <a:solidFill>
                  <a:srgbClr val="333333"/>
                </a:solidFill>
                <a:latin typeface="맑은 고딕"/>
              </a:rPr>
              <a:t>csvfile</a:t>
            </a:r>
            <a:r>
              <a:rPr sz="1500" b="0" dirty="0">
                <a:solidFill>
                  <a:srgbClr val="333333"/>
                </a:solidFill>
                <a:latin typeface="맑은 고딕"/>
              </a:rPr>
              <a:t>, </a:t>
            </a:r>
            <a:r>
              <a:rPr sz="1500" b="0" dirty="0" err="1">
                <a:solidFill>
                  <a:srgbClr val="333333"/>
                </a:solidFill>
                <a:latin typeface="맑은 고딕"/>
              </a:rPr>
              <a:t>userID</a:t>
            </a:r>
            <a:r>
              <a:rPr sz="1500" b="0" dirty="0">
                <a:solidFill>
                  <a:srgbClr val="333333"/>
                </a:solidFill>
                <a:latin typeface="맑은 고딕"/>
              </a:rPr>
              <a:t>,</a:t>
            </a:r>
            <a:r>
              <a:rPr lang="en-US" altLang="ko-KR" sz="150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500" b="0" dirty="0">
                <a:solidFill>
                  <a:srgbClr val="333333"/>
                </a:solidFill>
                <a:latin typeface="맑은 고딕"/>
              </a:rPr>
              <a:t>battery, timestamp</a:t>
            </a:r>
          </a:p>
          <a:p>
            <a:pPr>
              <a:spcAft>
                <a:spcPts val="1000"/>
              </a:spcAft>
            </a:pPr>
            <a:r>
              <a:rPr sz="1500" b="1" dirty="0">
                <a:solidFill>
                  <a:srgbClr val="E87422"/>
                </a:solidFill>
                <a:latin typeface="맑은 고딕"/>
              </a:rPr>
              <a:t>■  </a:t>
            </a:r>
            <a:r>
              <a:rPr sz="1500" b="0" dirty="0" err="1">
                <a:solidFill>
                  <a:srgbClr val="333333"/>
                </a:solidFill>
                <a:latin typeface="맑은 고딕"/>
              </a:rPr>
              <a:t>서버</a:t>
            </a:r>
            <a:r>
              <a:rPr sz="150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333333"/>
                </a:solidFill>
                <a:latin typeface="맑은 고딕"/>
              </a:rPr>
              <a:t>구현</a:t>
            </a:r>
            <a:r>
              <a:rPr sz="1500" b="0" dirty="0">
                <a:solidFill>
                  <a:srgbClr val="333333"/>
                </a:solidFill>
                <a:latin typeface="맑은 고딕"/>
              </a:rPr>
              <a:t>: Python / Django REST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43600" y="3566160"/>
            <a:ext cx="457200" cy="548640"/>
          </a:xfrm>
          <a:prstGeom prst="rightArrow">
            <a:avLst/>
          </a:prstGeom>
          <a:solidFill>
            <a:srgbClr val="E87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92240" y="1737360"/>
            <a:ext cx="5029200" cy="42062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20840" y="19202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dirty="0" err="1">
                <a:solidFill>
                  <a:srgbClr val="FFFFFF"/>
                </a:solidFill>
                <a:latin typeface="맑은 고딕"/>
              </a:rPr>
              <a:t>전환</a:t>
            </a:r>
            <a:r>
              <a:rPr sz="20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맑은 고딕"/>
              </a:rPr>
              <a:t>목표</a:t>
            </a:r>
            <a:endParaRPr sz="20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720840" y="2377440"/>
            <a:ext cx="548640" cy="45720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20840" y="2606040"/>
            <a:ext cx="4663440" cy="1308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 dirty="0">
                <a:solidFill>
                  <a:srgbClr val="E87422"/>
                </a:solidFill>
                <a:latin typeface="맑은 고딕"/>
              </a:rPr>
              <a:t>■  </a:t>
            </a:r>
            <a:r>
              <a:rPr sz="1500" b="0" dirty="0" err="1">
                <a:solidFill>
                  <a:srgbClr val="FFFFFF"/>
                </a:solidFill>
                <a:latin typeface="맑은 고딕"/>
              </a:rPr>
              <a:t>전송</a:t>
            </a:r>
            <a:r>
              <a:rPr sz="1500" b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맑은 고딕"/>
              </a:rPr>
              <a:t>대상</a:t>
            </a:r>
            <a:r>
              <a:rPr sz="1500" b="0" dirty="0">
                <a:solidFill>
                  <a:srgbClr val="FFFFFF"/>
                </a:solidFill>
                <a:latin typeface="맑은 고딕"/>
              </a:rPr>
              <a:t>: </a:t>
            </a:r>
            <a:r>
              <a:rPr sz="1500" b="0" dirty="0" err="1">
                <a:solidFill>
                  <a:srgbClr val="FFFFFF"/>
                </a:solidFill>
                <a:latin typeface="맑은 고딕"/>
              </a:rPr>
              <a:t>베데스다</a:t>
            </a:r>
            <a:r>
              <a:rPr sz="1500" b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맑은 고딕"/>
              </a:rPr>
              <a:t>iCReaT</a:t>
            </a:r>
            <a:r>
              <a:rPr sz="1500" b="0" dirty="0">
                <a:solidFill>
                  <a:srgbClr val="FFFFFF"/>
                </a:solidFill>
                <a:latin typeface="맑은 고딕"/>
              </a:rPr>
              <a:t> DCT</a:t>
            </a:r>
          </a:p>
          <a:p>
            <a:pPr>
              <a:spcAft>
                <a:spcPts val="1000"/>
              </a:spcAft>
            </a:pPr>
            <a:r>
              <a:rPr sz="1500" b="1" dirty="0">
                <a:solidFill>
                  <a:srgbClr val="E87422"/>
                </a:solidFill>
                <a:latin typeface="맑은 고딕"/>
              </a:rPr>
              <a:t>■  </a:t>
            </a:r>
            <a:r>
              <a:rPr sz="1500" b="0" dirty="0" err="1">
                <a:solidFill>
                  <a:srgbClr val="FFFFFF"/>
                </a:solidFill>
                <a:latin typeface="맑은 고딕"/>
              </a:rPr>
              <a:t>전송</a:t>
            </a:r>
            <a:r>
              <a:rPr sz="1500" b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맑은 고딕"/>
              </a:rPr>
              <a:t>방식</a:t>
            </a:r>
            <a:r>
              <a:rPr sz="1500" b="0" dirty="0">
                <a:solidFill>
                  <a:srgbClr val="FFFFFF"/>
                </a:solidFill>
                <a:latin typeface="맑은 고딕"/>
              </a:rPr>
              <a:t>: multipart/form-data </a:t>
            </a:r>
            <a:r>
              <a:rPr sz="1500" b="0" dirty="0" err="1">
                <a:solidFill>
                  <a:srgbClr val="FFFFFF"/>
                </a:solidFill>
                <a:latin typeface="맑은 고딕"/>
              </a:rPr>
              <a:t>유지</a:t>
            </a:r>
            <a:endParaRPr sz="1500" b="0" dirty="0">
              <a:solidFill>
                <a:srgbClr val="FFFFFF"/>
              </a:solidFill>
              <a:latin typeface="맑은 고딕"/>
            </a:endParaRPr>
          </a:p>
          <a:p>
            <a:pPr>
              <a:spcAft>
                <a:spcPts val="1000"/>
              </a:spcAft>
            </a:pPr>
            <a:r>
              <a:rPr sz="1500" b="1" dirty="0">
                <a:solidFill>
                  <a:srgbClr val="E87422"/>
                </a:solidFill>
                <a:latin typeface="맑은 고딕"/>
              </a:rPr>
              <a:t>■  </a:t>
            </a:r>
            <a:r>
              <a:rPr sz="1500" b="0" dirty="0" err="1">
                <a:solidFill>
                  <a:srgbClr val="FFFFFF"/>
                </a:solidFill>
                <a:latin typeface="맑은 고딕"/>
              </a:rPr>
              <a:t>전송</a:t>
            </a:r>
            <a:r>
              <a:rPr sz="1500" b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맑은 고딕"/>
              </a:rPr>
              <a:t>필드</a:t>
            </a:r>
            <a:r>
              <a:rPr sz="1500" b="0" dirty="0">
                <a:solidFill>
                  <a:srgbClr val="FFFFFF"/>
                </a:solidFill>
                <a:latin typeface="맑은 고딕"/>
              </a:rPr>
              <a:t>: 5개 (Study/Subject </a:t>
            </a:r>
            <a:r>
              <a:rPr sz="1500" b="0" dirty="0" err="1">
                <a:solidFill>
                  <a:srgbClr val="FFFFFF"/>
                </a:solidFill>
                <a:latin typeface="맑은 고딕"/>
              </a:rPr>
              <a:t>추가</a:t>
            </a:r>
            <a:r>
              <a:rPr sz="1500" b="0" dirty="0">
                <a:solidFill>
                  <a:srgbClr val="FFFFFF"/>
                </a:solidFill>
                <a:latin typeface="맑은 고딕"/>
              </a:rPr>
              <a:t>)</a:t>
            </a:r>
            <a:endParaRPr lang="ko-KR" altLang="en-US" sz="1500" b="0" dirty="0">
              <a:solidFill>
                <a:srgbClr val="FFFFFF"/>
              </a:solidFill>
              <a:latin typeface="맑은 고딕"/>
            </a:endParaRPr>
          </a:p>
          <a:p>
            <a:pPr>
              <a:spcAft>
                <a:spcPts val="1000"/>
              </a:spcAft>
            </a:pPr>
            <a:r>
              <a:rPr lang="ko-KR" altLang="en-US" sz="1500" b="1" dirty="0">
                <a:solidFill>
                  <a:srgbClr val="E87422"/>
                </a:solidFill>
                <a:latin typeface="맑은 고딕"/>
              </a:rPr>
              <a:t>■  </a:t>
            </a:r>
            <a:r>
              <a:rPr lang="en-US" altLang="ko-KR" sz="1500" b="0" dirty="0">
                <a:solidFill>
                  <a:srgbClr val="FFFFFF"/>
                </a:solidFill>
                <a:latin typeface="맑은 고딕"/>
              </a:rPr>
              <a:t>QR </a:t>
            </a:r>
            <a:r>
              <a:rPr lang="ko-KR" altLang="en-US" sz="1500" b="0" dirty="0">
                <a:solidFill>
                  <a:srgbClr val="FFFFFF"/>
                </a:solidFill>
                <a:latin typeface="맑은 고딕"/>
              </a:rPr>
              <a:t>매칭</a:t>
            </a:r>
            <a:r>
              <a:rPr lang="en-US" altLang="ko-KR" sz="1500" b="0" dirty="0">
                <a:solidFill>
                  <a:srgbClr val="FFFFFF"/>
                </a:solidFill>
                <a:latin typeface="맑은 고딕"/>
              </a:rPr>
              <a:t>: </a:t>
            </a:r>
            <a:r>
              <a:rPr lang="ko-KR" altLang="en-US" sz="1500" b="0" dirty="0">
                <a:solidFill>
                  <a:srgbClr val="FFFFFF"/>
                </a:solidFill>
                <a:latin typeface="맑은 고딕"/>
              </a:rPr>
              <a:t>업로드 검증 이후 단계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맑은 고딕"/>
              </a:rPr>
              <a:t>베데스다 회신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맑은 고딕"/>
              </a:rPr>
              <a:t>전송 필드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731520" cy="54864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Sensor Monitor → 베데스다 iCReaT DCT 서버 전환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맑은 고딕"/>
              </a:rPr>
              <a:t>4 /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972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dirty="0">
                <a:solidFill>
                  <a:srgbClr val="333333"/>
                </a:solidFill>
                <a:latin typeface="맑은 고딕"/>
              </a:rPr>
              <a:t>CSV </a:t>
            </a:r>
            <a:r>
              <a:rPr sz="2000" b="1" dirty="0" err="1">
                <a:solidFill>
                  <a:srgbClr val="333333"/>
                </a:solidFill>
                <a:latin typeface="맑은 고딕"/>
              </a:rPr>
              <a:t>업로드</a:t>
            </a:r>
            <a:r>
              <a:rPr lang="ko-KR" altLang="en-US" sz="2000" b="1" dirty="0" err="1">
                <a:solidFill>
                  <a:srgbClr val="333333"/>
                </a:solidFill>
                <a:latin typeface="맑은 고딕"/>
              </a:rPr>
              <a:t>를</a:t>
            </a:r>
            <a:r>
              <a:rPr lang="ko-KR" altLang="en-US" sz="2000" b="1" dirty="0">
                <a:solidFill>
                  <a:srgbClr val="333333"/>
                </a:solidFill>
                <a:latin typeface="맑은 고딕"/>
              </a:rPr>
              <a:t> 위한</a:t>
            </a:r>
            <a:r>
              <a:rPr sz="20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맑은 고딕"/>
              </a:rPr>
              <a:t>엔드포인트를</a:t>
            </a:r>
            <a:r>
              <a:rPr lang="en-US" altLang="ko-KR" sz="20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lang="ko-KR" altLang="en-US" sz="2000" b="1" dirty="0">
                <a:solidFill>
                  <a:srgbClr val="333333"/>
                </a:solidFill>
                <a:latin typeface="맑은 고딕"/>
              </a:rPr>
              <a:t>새롭게</a:t>
            </a:r>
            <a:r>
              <a:rPr sz="20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맑은 고딕"/>
              </a:rPr>
              <a:t>추가</a:t>
            </a:r>
            <a:endParaRPr sz="2000" b="1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10972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dirty="0" err="1">
                <a:solidFill>
                  <a:srgbClr val="333333"/>
                </a:solidFill>
                <a:latin typeface="맑은 고딕"/>
              </a:rPr>
              <a:t>iCReaT는</a:t>
            </a:r>
            <a:r>
              <a:rPr sz="20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맑은 고딕"/>
              </a:rPr>
              <a:t>다중</a:t>
            </a:r>
            <a:r>
              <a:rPr sz="20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맑은 고딕"/>
              </a:rPr>
              <a:t>과제</a:t>
            </a:r>
            <a:r>
              <a:rPr sz="20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맑은 고딕"/>
              </a:rPr>
              <a:t>환경이라</a:t>
            </a:r>
            <a:r>
              <a:rPr sz="20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맑은 고딕"/>
              </a:rPr>
              <a:t>userID</a:t>
            </a:r>
            <a:r>
              <a:rPr sz="20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맑은 고딕"/>
              </a:rPr>
              <a:t>만으로는</a:t>
            </a:r>
            <a:r>
              <a:rPr sz="20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맑은 고딕"/>
              </a:rPr>
              <a:t>부족</a:t>
            </a:r>
            <a:r>
              <a:rPr sz="2000" b="1" dirty="0">
                <a:solidFill>
                  <a:srgbClr val="333333"/>
                </a:solidFill>
                <a:latin typeface="맑은 고딕"/>
              </a:rPr>
              <a:t> → </a:t>
            </a:r>
            <a:r>
              <a:rPr sz="2000" b="1" dirty="0" err="1">
                <a:solidFill>
                  <a:srgbClr val="333333"/>
                </a:solidFill>
                <a:latin typeface="맑은 고딕"/>
              </a:rPr>
              <a:t>studyId</a:t>
            </a:r>
            <a:r>
              <a:rPr sz="2000" b="1" dirty="0">
                <a:solidFill>
                  <a:srgbClr val="333333"/>
                </a:solidFill>
                <a:latin typeface="맑은 고딕"/>
              </a:rPr>
              <a:t> / </a:t>
            </a:r>
            <a:r>
              <a:rPr sz="2000" b="1" dirty="0" err="1">
                <a:solidFill>
                  <a:srgbClr val="333333"/>
                </a:solidFill>
                <a:latin typeface="맑은 고딕"/>
              </a:rPr>
              <a:t>subjectId</a:t>
            </a:r>
            <a:r>
              <a:rPr sz="20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맑은 고딕"/>
              </a:rPr>
              <a:t>추가</a:t>
            </a:r>
            <a:r>
              <a:rPr sz="20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맑은 고딕"/>
              </a:rPr>
              <a:t>필요</a:t>
            </a:r>
            <a:r>
              <a:rPr sz="2000" b="1" dirty="0">
                <a:solidFill>
                  <a:srgbClr val="333333"/>
                </a:solidFill>
                <a:latin typeface="맑은 고딕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26080"/>
            <a:ext cx="2194560" cy="21945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2926080"/>
            <a:ext cx="2194560" cy="411480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980944"/>
            <a:ext cx="21945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dirty="0" err="1">
                <a:solidFill>
                  <a:srgbClr val="FFFFFF"/>
                </a:solidFill>
                <a:latin typeface="맑은 고딕"/>
              </a:rPr>
              <a:t>필드</a:t>
            </a:r>
            <a:r>
              <a:rPr sz="2000" b="1" dirty="0">
                <a:solidFill>
                  <a:srgbClr val="FFFFFF"/>
                </a:solidFill>
                <a:latin typeface="맑은 고딕"/>
              </a:rPr>
              <a:t>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6616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E87422"/>
                </a:solidFill>
                <a:latin typeface="Consolas"/>
              </a:rPr>
              <a:t>csvfile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06240"/>
            <a:ext cx="192024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dirty="0" err="1">
                <a:solidFill>
                  <a:srgbClr val="333333"/>
                </a:solidFill>
                <a:latin typeface="맑은 고딕"/>
              </a:rPr>
              <a:t>센서</a:t>
            </a:r>
            <a:r>
              <a:rPr sz="20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맑은 고딕"/>
              </a:rPr>
              <a:t>병합</a:t>
            </a:r>
            <a:r>
              <a:rPr sz="2000" b="1" dirty="0">
                <a:solidFill>
                  <a:srgbClr val="333333"/>
                </a:solidFill>
                <a:latin typeface="맑은 고딕"/>
              </a:rPr>
              <a:t> CSV </a:t>
            </a:r>
            <a:r>
              <a:rPr sz="2000" b="1" dirty="0" err="1">
                <a:solidFill>
                  <a:srgbClr val="333333"/>
                </a:solidFill>
                <a:latin typeface="맑은 고딕"/>
              </a:rPr>
              <a:t>파일</a:t>
            </a:r>
            <a:endParaRPr sz="2000" b="1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907792" y="2926080"/>
            <a:ext cx="2194560" cy="21945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907792" y="2926080"/>
            <a:ext cx="2194560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07792" y="2980944"/>
            <a:ext cx="21945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필드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4952" y="356616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Consolas"/>
              </a:rPr>
              <a:t>battery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44952" y="4206240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333333"/>
                </a:solidFill>
                <a:latin typeface="맑은 고딕"/>
              </a:rPr>
              <a:t>워치 배터리 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75504" y="2926080"/>
            <a:ext cx="2194560" cy="21945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175504" y="2926080"/>
            <a:ext cx="2194560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75504" y="2980944"/>
            <a:ext cx="21945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필드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356616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Consolas"/>
              </a:rPr>
              <a:t>timestamp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4206240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333333"/>
                </a:solidFill>
                <a:latin typeface="맑은 고딕"/>
              </a:rPr>
              <a:t>전송 시각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43216" y="2926080"/>
            <a:ext cx="2194560" cy="21945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43216" y="2926080"/>
            <a:ext cx="2194560" cy="41148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43216" y="2980944"/>
            <a:ext cx="21945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/>
              </a:rPr>
              <a:t>필드</a:t>
            </a:r>
            <a:r>
              <a:rPr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/>
              </a:rPr>
              <a:t>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0376" y="3566160"/>
            <a:ext cx="19202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dirty="0" err="1">
                <a:solidFill>
                  <a:srgbClr val="0F2A4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/>
              </a:rPr>
              <a:t>studyId</a:t>
            </a:r>
            <a:endParaRPr sz="1800" b="1" dirty="0">
              <a:solidFill>
                <a:srgbClr val="0F2A4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580376" y="4206240"/>
            <a:ext cx="192024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dirty="0" err="1">
                <a:solidFill>
                  <a:srgbClr val="C00000"/>
                </a:solidFill>
                <a:latin typeface="맑은 고딕"/>
              </a:rPr>
              <a:t>과제</a:t>
            </a:r>
            <a:r>
              <a:rPr sz="2000" b="1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C00000"/>
                </a:solidFill>
                <a:latin typeface="맑은 고딕"/>
              </a:rPr>
              <a:t>식별자</a:t>
            </a:r>
            <a:r>
              <a:rPr sz="2000" b="1" dirty="0">
                <a:solidFill>
                  <a:srgbClr val="C00000"/>
                </a:solidFill>
                <a:latin typeface="맑은 고딕"/>
              </a:rPr>
              <a:t> </a:t>
            </a:r>
            <a:endParaRPr lang="en-US" altLang="ko-KR" sz="2000" b="1" dirty="0">
              <a:solidFill>
                <a:srgbClr val="C00000"/>
              </a:solidFill>
              <a:latin typeface="맑은 고딕"/>
            </a:endParaRPr>
          </a:p>
          <a:p>
            <a:pPr algn="ctr"/>
            <a:r>
              <a:rPr sz="2000" b="1" dirty="0">
                <a:solidFill>
                  <a:srgbClr val="C00000"/>
                </a:solidFill>
                <a:latin typeface="맑은 고딕"/>
              </a:rPr>
              <a:t>(</a:t>
            </a:r>
            <a:r>
              <a:rPr sz="2000" b="1" dirty="0" err="1">
                <a:solidFill>
                  <a:srgbClr val="C00000"/>
                </a:solidFill>
                <a:latin typeface="맑은 고딕"/>
              </a:rPr>
              <a:t>신규</a:t>
            </a:r>
            <a:r>
              <a:rPr sz="2000" b="1" dirty="0">
                <a:solidFill>
                  <a:srgbClr val="C00000"/>
                </a:solidFill>
                <a:latin typeface="맑은 고딕"/>
              </a:rPr>
              <a:t>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10928" y="2926080"/>
            <a:ext cx="2194560" cy="21945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710928" y="2926080"/>
            <a:ext cx="2194560" cy="41148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10928" y="2980944"/>
            <a:ext cx="21945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/>
              </a:rPr>
              <a:t>필드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48088" y="3566160"/>
            <a:ext cx="19202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dirty="0" err="1">
                <a:solidFill>
                  <a:srgbClr val="0F2A4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/>
              </a:rPr>
              <a:t>subjectId</a:t>
            </a:r>
            <a:endParaRPr sz="1800" b="1" dirty="0">
              <a:solidFill>
                <a:srgbClr val="0F2A4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848088" y="4206240"/>
            <a:ext cx="192024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dirty="0" err="1">
                <a:solidFill>
                  <a:srgbClr val="C00000"/>
                </a:solidFill>
                <a:latin typeface="맑은 고딕"/>
              </a:rPr>
              <a:t>피험자</a:t>
            </a:r>
            <a:r>
              <a:rPr sz="2000" b="1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C00000"/>
                </a:solidFill>
                <a:latin typeface="맑은 고딕"/>
              </a:rPr>
              <a:t>식별자</a:t>
            </a:r>
            <a:r>
              <a:rPr sz="2000" b="1" dirty="0">
                <a:solidFill>
                  <a:srgbClr val="C00000"/>
                </a:solidFill>
                <a:latin typeface="맑은 고딕"/>
              </a:rPr>
              <a:t> </a:t>
            </a:r>
            <a:endParaRPr lang="en-US" altLang="ko-KR" sz="2000" b="1" dirty="0">
              <a:solidFill>
                <a:srgbClr val="C00000"/>
              </a:solidFill>
              <a:latin typeface="맑은 고딕"/>
            </a:endParaRPr>
          </a:p>
          <a:p>
            <a:pPr algn="ctr"/>
            <a:r>
              <a:rPr sz="2000" b="1" dirty="0">
                <a:solidFill>
                  <a:srgbClr val="C00000"/>
                </a:solidFill>
                <a:latin typeface="맑은 고딕"/>
              </a:rPr>
              <a:t>(</a:t>
            </a:r>
            <a:r>
              <a:rPr sz="2000" b="1" dirty="0" err="1">
                <a:solidFill>
                  <a:srgbClr val="C00000"/>
                </a:solidFill>
                <a:latin typeface="맑은 고딕"/>
              </a:rPr>
              <a:t>신규</a:t>
            </a:r>
            <a:r>
              <a:rPr sz="2000" b="1" dirty="0">
                <a:solidFill>
                  <a:srgbClr val="C00000"/>
                </a:solidFill>
                <a:latin typeface="맑은 고딕"/>
              </a:rP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맑은 고딕"/>
              </a:rPr>
              <a:t>코드 기준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맑은 고딕"/>
              </a:rPr>
              <a:t>OkHttp MultipartBody.FORM 전송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731520" cy="54864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Sensor Monitor → 베데스다 iCReaT DCT 서버 전환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맑은 고딕"/>
              </a:rPr>
              <a:t>5 /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0" dirty="0">
                <a:solidFill>
                  <a:srgbClr val="333333"/>
                </a:solidFill>
                <a:latin typeface="맑은 고딕"/>
              </a:rPr>
              <a:t>기존 센서를  수집하는 </a:t>
            </a:r>
            <a:r>
              <a:rPr sz="1400" b="0" dirty="0" err="1">
                <a:solidFill>
                  <a:srgbClr val="333333"/>
                </a:solidFill>
                <a:latin typeface="맑은 고딕"/>
              </a:rPr>
              <a:t>모바일</a:t>
            </a:r>
            <a:r>
              <a:rPr sz="140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맑은 고딕"/>
              </a:rPr>
              <a:t>앱은</a:t>
            </a:r>
            <a:r>
              <a:rPr sz="140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맑은 고딕"/>
              </a:rPr>
              <a:t>OkHttp</a:t>
            </a:r>
            <a:r>
              <a:rPr sz="140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맑은 고딕"/>
              </a:rPr>
              <a:t>MultipartBody.FORM</a:t>
            </a:r>
            <a:r>
              <a:rPr sz="140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맑은 고딕"/>
              </a:rPr>
              <a:t>으로</a:t>
            </a:r>
            <a:r>
              <a:rPr sz="1400" b="0" dirty="0">
                <a:solidFill>
                  <a:srgbClr val="333333"/>
                </a:solidFill>
                <a:latin typeface="맑은 고딕"/>
              </a:rPr>
              <a:t> CSV </a:t>
            </a:r>
            <a:r>
              <a:rPr sz="1400" b="0" dirty="0" err="1">
                <a:solidFill>
                  <a:srgbClr val="333333"/>
                </a:solidFill>
                <a:latin typeface="맑은 고딕"/>
              </a:rPr>
              <a:t>파일과</a:t>
            </a:r>
            <a:r>
              <a:rPr sz="140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맑은 고딕"/>
              </a:rPr>
              <a:t>메타데이터를</a:t>
            </a:r>
            <a:r>
              <a:rPr sz="140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맑은 고딕"/>
              </a:rPr>
              <a:t>함께</a:t>
            </a:r>
            <a:r>
              <a:rPr sz="140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lang="ko-KR" altLang="en-US" sz="1400" b="0" dirty="0">
                <a:solidFill>
                  <a:srgbClr val="333333"/>
                </a:solidFill>
                <a:latin typeface="맑은 고딕"/>
              </a:rPr>
              <a:t>서버로 </a:t>
            </a:r>
            <a:r>
              <a:rPr sz="1400" b="0" dirty="0" err="1">
                <a:solidFill>
                  <a:srgbClr val="333333"/>
                </a:solidFill>
                <a:latin typeface="맑은 고딕"/>
              </a:rPr>
              <a:t>전송합니다</a:t>
            </a:r>
            <a:r>
              <a:rPr sz="1400" b="0" dirty="0">
                <a:solidFill>
                  <a:srgbClr val="333333"/>
                </a:solidFill>
                <a:latin typeface="맑은 고딕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52120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666666"/>
                </a:solidFill>
                <a:latin typeface="맑은 고딕"/>
              </a:rPr>
              <a:t>Before  (</a:t>
            </a:r>
            <a:r>
              <a:rPr lang="ko-KR" altLang="en-US" sz="1500" b="1" dirty="0">
                <a:solidFill>
                  <a:srgbClr val="666666"/>
                </a:solidFill>
                <a:latin typeface="맑은 고딕"/>
              </a:rPr>
              <a:t>기존</a:t>
            </a:r>
            <a:r>
              <a:rPr sz="1500" b="1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66666"/>
                </a:solidFill>
                <a:latin typeface="맑은 고딕"/>
              </a:rPr>
              <a:t>서버</a:t>
            </a:r>
            <a:r>
              <a:rPr sz="1500" b="1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66666"/>
                </a:solidFill>
                <a:latin typeface="맑은 고딕"/>
              </a:rPr>
              <a:t>전송</a:t>
            </a:r>
            <a:r>
              <a:rPr sz="1500" b="1" dirty="0">
                <a:solidFill>
                  <a:srgbClr val="666666"/>
                </a:solidFill>
                <a:latin typeface="맑은 고딕"/>
              </a:rPr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06040"/>
            <a:ext cx="5212080" cy="31089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484632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E0E6F0"/>
                </a:solidFill>
                <a:latin typeface="Consolas"/>
              </a:rPr>
              <a:t>.</a:t>
            </a:r>
            <a:r>
              <a:rPr sz="1400" b="0" dirty="0" err="1">
                <a:solidFill>
                  <a:srgbClr val="E0E6F0"/>
                </a:solidFill>
                <a:latin typeface="Consolas"/>
              </a:rPr>
              <a:t>addFormDataPart</a:t>
            </a:r>
            <a:r>
              <a:rPr sz="1400" b="0" dirty="0">
                <a:solidFill>
                  <a:srgbClr val="E0E6F0"/>
                </a:solidFill>
                <a:latin typeface="Consolas"/>
              </a:rPr>
              <a:t>("</a:t>
            </a:r>
            <a:r>
              <a:rPr sz="1400" b="0" dirty="0" err="1">
                <a:solidFill>
                  <a:srgbClr val="E0E6F0"/>
                </a:solidFill>
                <a:latin typeface="Consolas"/>
              </a:rPr>
              <a:t>csvfile</a:t>
            </a:r>
            <a:r>
              <a:rPr sz="1400" b="0" dirty="0">
                <a:solidFill>
                  <a:srgbClr val="E0E6F0"/>
                </a:solidFill>
                <a:latin typeface="Consolas"/>
              </a:rPr>
              <a:t>",</a:t>
            </a:r>
            <a:endParaRPr lang="en-US" sz="1400" b="0" dirty="0">
              <a:solidFill>
                <a:srgbClr val="E0E6F0"/>
              </a:solidFill>
              <a:latin typeface="Consolas"/>
            </a:endParaRPr>
          </a:p>
          <a:p>
            <a:pPr algn="l"/>
            <a:r>
              <a:rPr lang="en-US" sz="1400" b="0" dirty="0">
                <a:solidFill>
                  <a:srgbClr val="E0E6F0"/>
                </a:solidFill>
                <a:latin typeface="Consolas"/>
              </a:rPr>
              <a:t>                  file.name, ...)</a:t>
            </a:r>
          </a:p>
          <a:p>
            <a:pPr algn="l"/>
            <a:r>
              <a:rPr sz="1400" b="0" dirty="0">
                <a:solidFill>
                  <a:srgbClr val="E0E6F0"/>
                </a:solidFill>
                <a:latin typeface="Consolas"/>
              </a:rPr>
              <a:t>.</a:t>
            </a:r>
            <a:r>
              <a:rPr sz="1400" b="0" dirty="0" err="1">
                <a:solidFill>
                  <a:srgbClr val="E0E6F0"/>
                </a:solidFill>
                <a:latin typeface="Consolas"/>
              </a:rPr>
              <a:t>addFormDataPart</a:t>
            </a:r>
            <a:r>
              <a:rPr sz="1400" b="0" dirty="0">
                <a:solidFill>
                  <a:srgbClr val="E0E6F0"/>
                </a:solidFill>
                <a:latin typeface="Consolas"/>
              </a:rPr>
              <a:t>("</a:t>
            </a:r>
            <a:r>
              <a:rPr sz="1400" b="0" dirty="0" err="1">
                <a:solidFill>
                  <a:srgbClr val="E0E6F0"/>
                </a:solidFill>
                <a:latin typeface="Consolas"/>
              </a:rPr>
              <a:t>userID</a:t>
            </a:r>
            <a:r>
              <a:rPr sz="1400" b="0" dirty="0">
                <a:solidFill>
                  <a:srgbClr val="E0E6F0"/>
                </a:solidFill>
                <a:latin typeface="Consolas"/>
              </a:rPr>
              <a:t>", </a:t>
            </a:r>
            <a:r>
              <a:rPr sz="1400" b="0" dirty="0" err="1">
                <a:solidFill>
                  <a:srgbClr val="E0E6F0"/>
                </a:solidFill>
                <a:latin typeface="Consolas"/>
              </a:rPr>
              <a:t>userID</a:t>
            </a:r>
            <a:r>
              <a:rPr sz="1400" b="0" dirty="0">
                <a:solidFill>
                  <a:srgbClr val="E0E6F0"/>
                </a:solidFill>
                <a:latin typeface="Consolas"/>
              </a:rPr>
              <a:t>)</a:t>
            </a:r>
          </a:p>
          <a:p>
            <a:pPr algn="l"/>
            <a:r>
              <a:rPr sz="1400" b="0" dirty="0">
                <a:solidFill>
                  <a:srgbClr val="E0E6F0"/>
                </a:solidFill>
                <a:latin typeface="Consolas"/>
              </a:rPr>
              <a:t>.</a:t>
            </a:r>
            <a:r>
              <a:rPr sz="1400" b="0" dirty="0" err="1">
                <a:solidFill>
                  <a:srgbClr val="E0E6F0"/>
                </a:solidFill>
                <a:latin typeface="Consolas"/>
              </a:rPr>
              <a:t>addFormDataPart</a:t>
            </a:r>
            <a:r>
              <a:rPr sz="1400" b="0" dirty="0">
                <a:solidFill>
                  <a:srgbClr val="E0E6F0"/>
                </a:solidFill>
                <a:latin typeface="Consolas"/>
              </a:rPr>
              <a:t>("battery", battery)</a:t>
            </a:r>
          </a:p>
          <a:p>
            <a:pPr algn="l"/>
            <a:r>
              <a:rPr sz="1400" b="0" dirty="0">
                <a:solidFill>
                  <a:srgbClr val="E0E6F0"/>
                </a:solidFill>
                <a:latin typeface="Consolas"/>
              </a:rPr>
              <a:t>.</a:t>
            </a:r>
            <a:r>
              <a:rPr sz="1400" b="0" dirty="0" err="1">
                <a:solidFill>
                  <a:srgbClr val="E0E6F0"/>
                </a:solidFill>
                <a:latin typeface="Consolas"/>
              </a:rPr>
              <a:t>addFormDataPart</a:t>
            </a:r>
            <a:r>
              <a:rPr sz="1400" b="0" dirty="0">
                <a:solidFill>
                  <a:srgbClr val="E0E6F0"/>
                </a:solidFill>
                <a:latin typeface="Consolas"/>
              </a:rPr>
              <a:t>("timestamp",</a:t>
            </a:r>
          </a:p>
          <a:p>
            <a:pPr algn="l"/>
            <a:r>
              <a:rPr sz="1400" b="0" dirty="0">
                <a:solidFill>
                  <a:srgbClr val="E0E6F0"/>
                </a:solidFill>
                <a:latin typeface="Consolas"/>
              </a:rPr>
              <a:t>                  timestamp)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43600" y="3931920"/>
            <a:ext cx="365760" cy="457200"/>
          </a:xfrm>
          <a:prstGeom prst="rightArrow">
            <a:avLst/>
          </a:prstGeom>
          <a:solidFill>
            <a:srgbClr val="E87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F2A4A"/>
                </a:solidFill>
                <a:latin typeface="맑은 고딕"/>
              </a:rPr>
              <a:t>After  (베데스다 iCReaT DCT 전송)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606040"/>
            <a:ext cx="5212080" cy="31089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2743200"/>
            <a:ext cx="4846320" cy="15081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dirty="0">
                <a:solidFill>
                  <a:srgbClr val="E0E6F0"/>
                </a:solidFill>
                <a:latin typeface="Consolas"/>
              </a:rPr>
              <a:t>.</a:t>
            </a:r>
            <a:r>
              <a:rPr sz="1400" b="0" dirty="0" err="1">
                <a:solidFill>
                  <a:srgbClr val="E0E6F0"/>
                </a:solidFill>
                <a:latin typeface="Consolas"/>
              </a:rPr>
              <a:t>addFormDataPart</a:t>
            </a:r>
            <a:r>
              <a:rPr sz="1400" b="0" dirty="0">
                <a:solidFill>
                  <a:srgbClr val="E0E6F0"/>
                </a:solidFill>
                <a:latin typeface="Consolas"/>
              </a:rPr>
              <a:t>("</a:t>
            </a:r>
            <a:r>
              <a:rPr sz="1400" b="0" dirty="0" err="1">
                <a:solidFill>
                  <a:srgbClr val="E0E6F0"/>
                </a:solidFill>
                <a:latin typeface="Consolas"/>
              </a:rPr>
              <a:t>csvfile</a:t>
            </a:r>
            <a:r>
              <a:rPr sz="1400" b="0" dirty="0">
                <a:solidFill>
                  <a:srgbClr val="E0E6F0"/>
                </a:solidFill>
                <a:latin typeface="Consolas"/>
              </a:rPr>
              <a:t>",</a:t>
            </a:r>
          </a:p>
          <a:p>
            <a:r>
              <a:rPr sz="1400" b="0" dirty="0">
                <a:solidFill>
                  <a:srgbClr val="E0E6F0"/>
                </a:solidFill>
                <a:latin typeface="Consolas"/>
              </a:rPr>
              <a:t>                  file.name, </a:t>
            </a:r>
            <a:r>
              <a:rPr lang="en-US" altLang="ko-KR" sz="1400" b="0" dirty="0">
                <a:solidFill>
                  <a:srgbClr val="E0E6F0"/>
                </a:solidFill>
                <a:latin typeface="Consolas"/>
              </a:rPr>
              <a:t>…</a:t>
            </a:r>
            <a:r>
              <a:rPr sz="1400" b="0" dirty="0">
                <a:solidFill>
                  <a:srgbClr val="E0E6F0"/>
                </a:solidFill>
                <a:latin typeface="Consolas"/>
              </a:rPr>
              <a:t>)</a:t>
            </a:r>
          </a:p>
          <a:p>
            <a:r>
              <a:rPr sz="1400" b="1" dirty="0">
                <a:solidFill>
                  <a:srgbClr val="E87422"/>
                </a:solidFill>
                <a:latin typeface="Consolas"/>
              </a:rPr>
              <a:t>.</a:t>
            </a:r>
            <a:r>
              <a:rPr sz="1400" b="1" dirty="0" err="1">
                <a:solidFill>
                  <a:srgbClr val="E87422"/>
                </a:solidFill>
                <a:latin typeface="Consolas"/>
              </a:rPr>
              <a:t>addFormDataPart</a:t>
            </a:r>
            <a:r>
              <a:rPr sz="1400" b="1" dirty="0">
                <a:solidFill>
                  <a:srgbClr val="E87422"/>
                </a:solidFill>
                <a:latin typeface="Consolas"/>
              </a:rPr>
              <a:t>("</a:t>
            </a:r>
            <a:r>
              <a:rPr sz="1400" b="1" dirty="0" err="1">
                <a:solidFill>
                  <a:srgbClr val="E87422"/>
                </a:solidFill>
                <a:latin typeface="Consolas"/>
              </a:rPr>
              <a:t>studyId</a:t>
            </a:r>
            <a:r>
              <a:rPr sz="1400" b="1" dirty="0">
                <a:solidFill>
                  <a:srgbClr val="E87422"/>
                </a:solidFill>
                <a:latin typeface="Consolas"/>
              </a:rPr>
              <a:t>", </a:t>
            </a:r>
            <a:r>
              <a:rPr sz="1400" b="1" dirty="0" err="1">
                <a:solidFill>
                  <a:srgbClr val="E87422"/>
                </a:solidFill>
                <a:latin typeface="Consolas"/>
              </a:rPr>
              <a:t>studyId</a:t>
            </a:r>
            <a:r>
              <a:rPr sz="1400" b="1" dirty="0">
                <a:solidFill>
                  <a:srgbClr val="E87422"/>
                </a:solidFill>
                <a:latin typeface="Consolas"/>
              </a:rPr>
              <a:t>)</a:t>
            </a:r>
          </a:p>
          <a:p>
            <a:r>
              <a:rPr sz="1400" b="1" dirty="0">
                <a:solidFill>
                  <a:srgbClr val="E87422"/>
                </a:solidFill>
                <a:latin typeface="Consolas"/>
              </a:rPr>
              <a:t>.</a:t>
            </a:r>
            <a:r>
              <a:rPr sz="1400" b="1" dirty="0" err="1">
                <a:solidFill>
                  <a:srgbClr val="E87422"/>
                </a:solidFill>
                <a:latin typeface="Consolas"/>
              </a:rPr>
              <a:t>addFormDataPart</a:t>
            </a:r>
            <a:r>
              <a:rPr sz="1400" b="1" dirty="0">
                <a:solidFill>
                  <a:srgbClr val="E87422"/>
                </a:solidFill>
                <a:latin typeface="Consolas"/>
              </a:rPr>
              <a:t>("</a:t>
            </a:r>
            <a:r>
              <a:rPr sz="1400" b="1" dirty="0" err="1">
                <a:solidFill>
                  <a:srgbClr val="E87422"/>
                </a:solidFill>
                <a:latin typeface="Consolas"/>
              </a:rPr>
              <a:t>subjectId</a:t>
            </a:r>
            <a:r>
              <a:rPr sz="1400" b="1" dirty="0">
                <a:solidFill>
                  <a:srgbClr val="E87422"/>
                </a:solidFill>
                <a:latin typeface="Consolas"/>
              </a:rPr>
              <a:t>", </a:t>
            </a:r>
            <a:r>
              <a:rPr sz="1400" b="1" dirty="0" err="1">
                <a:solidFill>
                  <a:srgbClr val="E87422"/>
                </a:solidFill>
                <a:latin typeface="Consolas"/>
              </a:rPr>
              <a:t>subjectId</a:t>
            </a:r>
            <a:r>
              <a:rPr sz="1400" b="1" dirty="0">
                <a:solidFill>
                  <a:srgbClr val="E87422"/>
                </a:solidFill>
                <a:latin typeface="Consolas"/>
              </a:rPr>
              <a:t>)</a:t>
            </a:r>
          </a:p>
          <a:p>
            <a:r>
              <a:rPr sz="1400" b="0" dirty="0">
                <a:solidFill>
                  <a:srgbClr val="E0E6F0"/>
                </a:solidFill>
                <a:latin typeface="Consolas"/>
              </a:rPr>
              <a:t>.</a:t>
            </a:r>
            <a:r>
              <a:rPr sz="1400" b="0" dirty="0" err="1">
                <a:solidFill>
                  <a:srgbClr val="E0E6F0"/>
                </a:solidFill>
                <a:latin typeface="Consolas"/>
              </a:rPr>
              <a:t>addFormDataPart</a:t>
            </a:r>
            <a:r>
              <a:rPr sz="1400" b="0" dirty="0">
                <a:solidFill>
                  <a:srgbClr val="E0E6F0"/>
                </a:solidFill>
                <a:latin typeface="Consolas"/>
              </a:rPr>
              <a:t>("battery", battery)</a:t>
            </a:r>
          </a:p>
          <a:p>
            <a:r>
              <a:rPr sz="1400" b="0" dirty="0">
                <a:solidFill>
                  <a:srgbClr val="E0E6F0"/>
                </a:solidFill>
                <a:latin typeface="Consolas"/>
              </a:rPr>
              <a:t>.</a:t>
            </a:r>
            <a:r>
              <a:rPr sz="1400" b="0" dirty="0" err="1">
                <a:solidFill>
                  <a:srgbClr val="E0E6F0"/>
                </a:solidFill>
                <a:latin typeface="Consolas"/>
              </a:rPr>
              <a:t>addFormDataPart</a:t>
            </a:r>
            <a:r>
              <a:rPr sz="1400" b="0" dirty="0">
                <a:solidFill>
                  <a:srgbClr val="E0E6F0"/>
                </a:solidFill>
                <a:latin typeface="Consolas"/>
              </a:rPr>
              <a:t>("timestamp",</a:t>
            </a:r>
          </a:p>
          <a:p>
            <a:r>
              <a:rPr sz="1400" b="0" dirty="0">
                <a:solidFill>
                  <a:srgbClr val="E0E6F0"/>
                </a:solidFill>
                <a:latin typeface="Consolas"/>
              </a:rPr>
              <a:t>                  timestamp)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728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 err="1">
                <a:solidFill>
                  <a:srgbClr val="666666"/>
                </a:solidFill>
                <a:latin typeface="맑은 고딕"/>
              </a:rPr>
              <a:t>기존</a:t>
            </a:r>
            <a:r>
              <a:rPr sz="1200" b="1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666666"/>
                </a:solidFill>
                <a:latin typeface="맑은 고딕"/>
              </a:rPr>
              <a:t>서버</a:t>
            </a:r>
            <a:r>
              <a:rPr sz="1200" b="1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666666"/>
                </a:solidFill>
                <a:latin typeface="맑은 고딕"/>
              </a:rPr>
              <a:t>수신부는</a:t>
            </a:r>
            <a:r>
              <a:rPr sz="1200" b="1" dirty="0">
                <a:solidFill>
                  <a:srgbClr val="666666"/>
                </a:solidFill>
                <a:latin typeface="맑은 고딕"/>
              </a:rPr>
              <a:t> Django REST </a:t>
            </a:r>
            <a:r>
              <a:rPr sz="1200" b="1" dirty="0" err="1">
                <a:solidFill>
                  <a:srgbClr val="666666"/>
                </a:solidFill>
                <a:latin typeface="맑은 고딕"/>
              </a:rPr>
              <a:t>MultiPartParser</a:t>
            </a:r>
            <a:r>
              <a:rPr sz="1200" b="1" dirty="0">
                <a:solidFill>
                  <a:srgbClr val="666666"/>
                </a:solidFill>
                <a:latin typeface="맑은 고딕"/>
              </a:rPr>
              <a:t> (</a:t>
            </a:r>
            <a:r>
              <a:rPr sz="1200" b="1" dirty="0" err="1">
                <a:solidFill>
                  <a:srgbClr val="666666"/>
                </a:solidFill>
                <a:latin typeface="맑은 고딕"/>
              </a:rPr>
              <a:t>request.FILES</a:t>
            </a:r>
            <a:r>
              <a:rPr sz="1200" b="1" dirty="0">
                <a:solidFill>
                  <a:srgbClr val="666666"/>
                </a:solidFill>
                <a:latin typeface="맑은 고딕"/>
              </a:rPr>
              <a:t>['</a:t>
            </a:r>
            <a:r>
              <a:rPr sz="1200" b="1" dirty="0" err="1">
                <a:solidFill>
                  <a:srgbClr val="666666"/>
                </a:solidFill>
                <a:latin typeface="맑은 고딕"/>
              </a:rPr>
              <a:t>csvfile</a:t>
            </a:r>
            <a:r>
              <a:rPr sz="1200" b="1" dirty="0">
                <a:solidFill>
                  <a:srgbClr val="666666"/>
                </a:solidFill>
                <a:latin typeface="맑은 고딕"/>
              </a:rPr>
              <a:t>'], </a:t>
            </a:r>
            <a:r>
              <a:rPr sz="1200" b="1" dirty="0" err="1">
                <a:solidFill>
                  <a:srgbClr val="666666"/>
                </a:solidFill>
                <a:latin typeface="맑은 고딕"/>
              </a:rPr>
              <a:t>request.POST</a:t>
            </a:r>
            <a:r>
              <a:rPr sz="1200" b="1" dirty="0">
                <a:solidFill>
                  <a:srgbClr val="666666"/>
                </a:solidFill>
                <a:latin typeface="맑은 고딕"/>
              </a:rPr>
              <a:t>) </a:t>
            </a:r>
            <a:r>
              <a:rPr sz="1200" b="1" dirty="0" err="1">
                <a:solidFill>
                  <a:srgbClr val="666666"/>
                </a:solidFill>
                <a:latin typeface="맑은 고딕"/>
              </a:rPr>
              <a:t>구조였습니다</a:t>
            </a:r>
            <a:r>
              <a:rPr sz="1200" b="1" dirty="0">
                <a:solidFill>
                  <a:srgbClr val="666666"/>
                </a:solidFill>
                <a:latin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맑은 고딕"/>
              </a:rPr>
              <a:t>센서 CSV 생성·전송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058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 err="1">
                <a:solidFill>
                  <a:srgbClr val="666666"/>
                </a:solidFill>
                <a:latin typeface="맑은 고딕"/>
              </a:rPr>
              <a:t>성공</a:t>
            </a:r>
            <a:r>
              <a:rPr sz="1400" b="1" dirty="0">
                <a:solidFill>
                  <a:srgbClr val="666666"/>
                </a:solidFill>
                <a:latin typeface="맑은 고딕"/>
              </a:rPr>
              <a:t> / </a:t>
            </a:r>
            <a:r>
              <a:rPr sz="1400" b="1" dirty="0" err="1">
                <a:solidFill>
                  <a:srgbClr val="666666"/>
                </a:solidFill>
                <a:latin typeface="맑은 고딕"/>
              </a:rPr>
              <a:t>실패</a:t>
            </a:r>
            <a:r>
              <a:rPr sz="1400" b="1" dirty="0">
                <a:solidFill>
                  <a:srgbClr val="666666"/>
                </a:solidFill>
                <a:latin typeface="맑은 고딕"/>
              </a:rPr>
              <a:t> 후 </a:t>
            </a:r>
            <a:r>
              <a:rPr sz="1400" b="1" dirty="0" err="1">
                <a:solidFill>
                  <a:srgbClr val="666666"/>
                </a:solidFill>
                <a:latin typeface="맑은 고딕"/>
              </a:rPr>
              <a:t>파일</a:t>
            </a:r>
            <a:r>
              <a:rPr sz="1400" b="1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66666"/>
                </a:solidFill>
                <a:latin typeface="맑은 고딕"/>
              </a:rPr>
              <a:t>이동</a:t>
            </a:r>
            <a:r>
              <a:rPr sz="1400" b="1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66666"/>
                </a:solidFill>
                <a:latin typeface="맑은 고딕"/>
              </a:rPr>
              <a:t>로직</a:t>
            </a:r>
            <a:endParaRPr sz="1400" b="1" dirty="0">
              <a:solidFill>
                <a:srgbClr val="666666"/>
              </a:solidFill>
              <a:latin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731520" cy="54864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Sensor Monitor → 베데스다 iCReaT DCT 서버 전환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맑은 고딕"/>
              </a:rPr>
              <a:t>6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2468880" cy="13716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2468880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21945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dirty="0">
                <a:solidFill>
                  <a:srgbClr val="1F4E79"/>
                </a:solidFill>
                <a:latin typeface="맑은 고딕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F2A4A"/>
                </a:solidFill>
                <a:latin typeface="맑은 고딕"/>
              </a:rPr>
              <a:t>워치 데이터 수집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205" y="2643690"/>
            <a:ext cx="21945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 err="1">
                <a:solidFill>
                  <a:srgbClr val="333333"/>
                </a:solidFill>
                <a:latin typeface="맑은 고딕"/>
              </a:rPr>
              <a:t>센서별</a:t>
            </a:r>
            <a:r>
              <a:rPr sz="1400" b="1" dirty="0">
                <a:solidFill>
                  <a:srgbClr val="333333"/>
                </a:solidFill>
                <a:latin typeface="맑은 고딕"/>
              </a:rPr>
              <a:t> 약 5분 </a:t>
            </a:r>
            <a:r>
              <a:rPr sz="1400" b="1" dirty="0" err="1">
                <a:solidFill>
                  <a:srgbClr val="333333"/>
                </a:solidFill>
                <a:latin typeface="맑은 고딕"/>
              </a:rPr>
              <a:t>단위</a:t>
            </a:r>
            <a:endParaRPr sz="1400" b="1" dirty="0">
              <a:solidFill>
                <a:srgbClr val="333333"/>
              </a:solidFill>
              <a:latin typeface="맑은 고딕"/>
            </a:endParaRPr>
          </a:p>
          <a:p>
            <a:pPr algn="l"/>
            <a:r>
              <a:rPr sz="1400" b="1" dirty="0">
                <a:solidFill>
                  <a:srgbClr val="333333"/>
                </a:solidFill>
                <a:latin typeface="맑은 고딕"/>
              </a:rPr>
              <a:t>CSV </a:t>
            </a:r>
            <a:r>
              <a:rPr sz="1400" b="1" dirty="0" err="1">
                <a:solidFill>
                  <a:srgbClr val="333333"/>
                </a:solidFill>
                <a:latin typeface="맑은 고딕"/>
              </a:rPr>
              <a:t>조각</a:t>
            </a:r>
            <a:r>
              <a:rPr sz="14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333333"/>
                </a:solidFill>
                <a:latin typeface="맑은 고딕"/>
              </a:rPr>
              <a:t>저장</a:t>
            </a:r>
            <a:endParaRPr sz="1400" b="1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3127248" y="2377440"/>
            <a:ext cx="182880" cy="274320"/>
          </a:xfrm>
          <a:prstGeom prst="rightArrow">
            <a:avLst/>
          </a:prstGeom>
          <a:solidFill>
            <a:srgbClr val="E87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37560" y="1828800"/>
            <a:ext cx="2468880" cy="13716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37560" y="1828800"/>
            <a:ext cx="2468880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0" y="1965960"/>
            <a:ext cx="21945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맑은 고딕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2860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F2A4A"/>
                </a:solidFill>
                <a:latin typeface="맑은 고딕"/>
              </a:rPr>
              <a:t>30분 단위 병합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3685" y="2643690"/>
            <a:ext cx="21945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매시 00분 / 30분에</a:t>
            </a:r>
          </a:p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조각 CSV를 병합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824728" y="2377440"/>
            <a:ext cx="182880" cy="274320"/>
          </a:xfrm>
          <a:prstGeom prst="rightArrow">
            <a:avLst/>
          </a:prstGeom>
          <a:solidFill>
            <a:srgbClr val="E87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35040" y="1828800"/>
            <a:ext cx="2468880" cy="13716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35040" y="1828800"/>
            <a:ext cx="2468880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72200" y="1965960"/>
            <a:ext cx="21945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맑은 고딕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2860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F2A4A"/>
                </a:solidFill>
                <a:latin typeface="맑은 고딕"/>
              </a:rPr>
              <a:t>서버 전송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1165" y="2643690"/>
            <a:ext cx="21945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병합 CSV를</a:t>
            </a:r>
          </a:p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베데스다 서버로 업로드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522208" y="2377440"/>
            <a:ext cx="182880" cy="274320"/>
          </a:xfrm>
          <a:prstGeom prst="rightArrow">
            <a:avLst/>
          </a:prstGeom>
          <a:solidFill>
            <a:srgbClr val="E87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732520" y="1828800"/>
            <a:ext cx="2468880" cy="13716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732520" y="1828800"/>
            <a:ext cx="2468880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69680" y="1965960"/>
            <a:ext cx="21945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맑은 고딕"/>
              </a:rPr>
              <a:t>STEP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22860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F2A4A"/>
                </a:solidFill>
                <a:latin typeface="맑은 고딕"/>
              </a:rPr>
              <a:t>응답 처리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645" y="2643690"/>
            <a:ext cx="21945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HTTP 200 기준</a:t>
            </a:r>
          </a:p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성공 / 실패 분기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566160"/>
            <a:ext cx="5394960" cy="23774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" y="3566160"/>
            <a:ext cx="137160" cy="23774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3749040"/>
            <a:ext cx="50292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dirty="0" err="1">
                <a:solidFill>
                  <a:srgbClr val="2E8B57"/>
                </a:solidFill>
                <a:latin typeface="맑은 고딕"/>
              </a:rPr>
              <a:t>성공</a:t>
            </a:r>
            <a:r>
              <a:rPr sz="2400" b="1" dirty="0">
                <a:solidFill>
                  <a:srgbClr val="2E8B57"/>
                </a:solidFill>
                <a:latin typeface="맑은 고딕"/>
              </a:rPr>
              <a:t> (HTTP 200)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343400"/>
            <a:ext cx="5029200" cy="1077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1" dirty="0">
                <a:solidFill>
                  <a:srgbClr val="2E8B57"/>
                </a:solidFill>
                <a:latin typeface="맑은 고딕"/>
              </a:rPr>
              <a:t>■  </a:t>
            </a:r>
            <a:r>
              <a:rPr sz="2000" b="1" dirty="0" err="1">
                <a:solidFill>
                  <a:srgbClr val="333333"/>
                </a:solidFill>
                <a:latin typeface="맑은 고딕"/>
              </a:rPr>
              <a:t>병합</a:t>
            </a:r>
            <a:r>
              <a:rPr sz="2000" b="1" dirty="0">
                <a:solidFill>
                  <a:srgbClr val="333333"/>
                </a:solidFill>
                <a:latin typeface="맑은 고딕"/>
              </a:rPr>
              <a:t> CSV → </a:t>
            </a:r>
            <a:r>
              <a:rPr sz="2000" b="1" dirty="0" err="1">
                <a:solidFill>
                  <a:srgbClr val="333333"/>
                </a:solidFill>
                <a:latin typeface="맑은 고딕"/>
              </a:rPr>
              <a:t>sended</a:t>
            </a:r>
            <a:r>
              <a:rPr sz="20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맑은 고딕"/>
              </a:rPr>
              <a:t>폴더로</a:t>
            </a:r>
            <a:r>
              <a:rPr sz="20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맑은 고딕"/>
              </a:rPr>
              <a:t>이동</a:t>
            </a:r>
            <a:endParaRPr sz="2000" b="1" dirty="0">
              <a:solidFill>
                <a:srgbClr val="333333"/>
              </a:solidFill>
              <a:latin typeface="맑은 고딕"/>
            </a:endParaRPr>
          </a:p>
          <a:p>
            <a:pPr>
              <a:spcAft>
                <a:spcPts val="600"/>
              </a:spcAft>
            </a:pPr>
            <a:r>
              <a:rPr sz="2000" b="1" dirty="0">
                <a:solidFill>
                  <a:srgbClr val="2E8B57"/>
                </a:solidFill>
                <a:latin typeface="맑은 고딕"/>
              </a:rPr>
              <a:t>■  </a:t>
            </a:r>
            <a:r>
              <a:rPr sz="2000" b="1" dirty="0" err="1">
                <a:solidFill>
                  <a:srgbClr val="333333"/>
                </a:solidFill>
                <a:latin typeface="맑은 고딕"/>
              </a:rPr>
              <a:t>병합에</a:t>
            </a:r>
            <a:r>
              <a:rPr sz="20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맑은 고딕"/>
              </a:rPr>
              <a:t>사용된</a:t>
            </a:r>
            <a:r>
              <a:rPr sz="20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맑은 고딕"/>
              </a:rPr>
              <a:t>원본</a:t>
            </a:r>
            <a:r>
              <a:rPr sz="20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맑은 고딕"/>
              </a:rPr>
              <a:t>조각</a:t>
            </a:r>
            <a:r>
              <a:rPr sz="2000" b="1" dirty="0">
                <a:solidFill>
                  <a:srgbClr val="333333"/>
                </a:solidFill>
                <a:latin typeface="맑은 고딕"/>
              </a:rPr>
              <a:t> CSV </a:t>
            </a:r>
            <a:r>
              <a:rPr sz="2000" b="1" dirty="0" err="1">
                <a:solidFill>
                  <a:srgbClr val="333333"/>
                </a:solidFill>
                <a:latin typeface="맑은 고딕"/>
              </a:rPr>
              <a:t>삭제</a:t>
            </a:r>
            <a:endParaRPr sz="2000" b="1" dirty="0">
              <a:solidFill>
                <a:srgbClr val="333333"/>
              </a:solidFill>
              <a:latin typeface="맑은 고딕"/>
            </a:endParaRPr>
          </a:p>
          <a:p>
            <a:pPr>
              <a:spcAft>
                <a:spcPts val="600"/>
              </a:spcAft>
            </a:pPr>
            <a:r>
              <a:rPr sz="2000" b="1" dirty="0">
                <a:solidFill>
                  <a:srgbClr val="2E8B57"/>
                </a:solidFill>
                <a:latin typeface="맑은 고딕"/>
              </a:rPr>
              <a:t>■  </a:t>
            </a:r>
            <a:r>
              <a:rPr sz="2000" b="1" dirty="0" err="1">
                <a:solidFill>
                  <a:srgbClr val="333333"/>
                </a:solidFill>
                <a:latin typeface="맑은 고딕"/>
              </a:rPr>
              <a:t>sended</a:t>
            </a:r>
            <a:r>
              <a:rPr sz="2000" b="1" dirty="0">
                <a:solidFill>
                  <a:srgbClr val="333333"/>
                </a:solidFill>
                <a:latin typeface="맑은 고딕"/>
              </a:rPr>
              <a:t> = '</a:t>
            </a:r>
            <a:r>
              <a:rPr sz="2000" b="1" dirty="0" err="1">
                <a:solidFill>
                  <a:srgbClr val="333333"/>
                </a:solidFill>
                <a:latin typeface="맑은 고딕"/>
              </a:rPr>
              <a:t>서버</a:t>
            </a:r>
            <a:r>
              <a:rPr sz="20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맑은 고딕"/>
              </a:rPr>
              <a:t>전송</a:t>
            </a:r>
            <a:r>
              <a:rPr sz="20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맑은 고딕"/>
              </a:rPr>
              <a:t>성공</a:t>
            </a:r>
            <a:r>
              <a:rPr sz="2000" b="1" dirty="0">
                <a:solidFill>
                  <a:srgbClr val="333333"/>
                </a:solidFill>
                <a:latin typeface="맑은 고딕"/>
              </a:rPr>
              <a:t>' </a:t>
            </a:r>
            <a:r>
              <a:rPr sz="2000" b="1" dirty="0" err="1">
                <a:solidFill>
                  <a:srgbClr val="333333"/>
                </a:solidFill>
                <a:latin typeface="맑은 고딕"/>
              </a:rPr>
              <a:t>보관</a:t>
            </a:r>
            <a:r>
              <a:rPr sz="20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333333"/>
                </a:solidFill>
                <a:latin typeface="맑은 고딕"/>
              </a:rPr>
              <a:t>위치</a:t>
            </a:r>
            <a:endParaRPr sz="2000" b="1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217920" y="3566160"/>
            <a:ext cx="5394960" cy="23774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17920" y="3566160"/>
            <a:ext cx="137160" cy="2377440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92240" y="3749040"/>
            <a:ext cx="50292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E87422"/>
                </a:solidFill>
                <a:latin typeface="맑은 고딕"/>
              </a:rPr>
              <a:t>실패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343400"/>
            <a:ext cx="5029200" cy="1077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E87422"/>
                </a:solidFill>
                <a:latin typeface="맑은 고딕"/>
              </a:rPr>
              <a:t>■  </a:t>
            </a:r>
            <a:r>
              <a:rPr sz="2000" b="1">
                <a:solidFill>
                  <a:srgbClr val="333333"/>
                </a:solidFill>
                <a:latin typeface="맑은 고딕"/>
              </a:rPr>
              <a:t>병합 CSV 삭제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E87422"/>
                </a:solidFill>
                <a:latin typeface="맑은 고딕"/>
              </a:rPr>
              <a:t>■  </a:t>
            </a:r>
            <a:r>
              <a:rPr sz="2000" b="1">
                <a:solidFill>
                  <a:srgbClr val="333333"/>
                </a:solidFill>
                <a:latin typeface="맑은 고딕"/>
              </a:rPr>
              <a:t>원본 조각 CSV는 보존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E87422"/>
                </a:solidFill>
                <a:latin typeface="맑은 고딕"/>
              </a:rPr>
              <a:t>■  </a:t>
            </a:r>
            <a:r>
              <a:rPr sz="2000" b="1">
                <a:solidFill>
                  <a:srgbClr val="333333"/>
                </a:solidFill>
                <a:latin typeface="맑은 고딕"/>
              </a:rPr>
              <a:t>다음 00분 / 30분에 다시 병합·재전송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맑은 고딕"/>
              </a:rPr>
              <a:t>Study ID / Subject ID 처리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맑은 고딕"/>
              </a:rPr>
              <a:t>QR 스캔은 1차 연동 이후 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731520" cy="54864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666666"/>
                </a:solidFill>
                <a:latin typeface="맑은 고딕"/>
              </a:rPr>
              <a:t>Sensor Monitor → </a:t>
            </a:r>
            <a:r>
              <a:rPr sz="1000" b="0" dirty="0" err="1">
                <a:solidFill>
                  <a:srgbClr val="666666"/>
                </a:solidFill>
                <a:latin typeface="맑은 고딕"/>
              </a:rPr>
              <a:t>베데스다</a:t>
            </a:r>
            <a:r>
              <a:rPr sz="1000" b="0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66666"/>
                </a:solidFill>
                <a:latin typeface="맑은 고딕"/>
              </a:rPr>
              <a:t>iCReaT</a:t>
            </a:r>
            <a:r>
              <a:rPr sz="1000" b="0" dirty="0">
                <a:solidFill>
                  <a:srgbClr val="666666"/>
                </a:solidFill>
                <a:latin typeface="맑은 고딕"/>
              </a:rPr>
              <a:t> DCT </a:t>
            </a:r>
            <a:r>
              <a:rPr sz="1000" b="0" dirty="0" err="1">
                <a:solidFill>
                  <a:srgbClr val="666666"/>
                </a:solidFill>
                <a:latin typeface="맑은 고딕"/>
              </a:rPr>
              <a:t>서버</a:t>
            </a:r>
            <a:r>
              <a:rPr sz="1000" b="0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66666"/>
                </a:solidFill>
                <a:latin typeface="맑은 고딕"/>
              </a:rPr>
              <a:t>전환</a:t>
            </a:r>
            <a:endParaRPr sz="1000" b="0" dirty="0">
              <a:solidFill>
                <a:srgbClr val="666666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맑은 고딕"/>
              </a:rPr>
              <a:t>7 /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2A4A"/>
                </a:solidFill>
                <a:latin typeface="맑은 고딕"/>
              </a:rPr>
              <a:t>pbcr_source 분석 결과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286000"/>
            <a:ext cx="457200" cy="45720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기존 앱은 QR 코드 JSON에서 식별자를 읽어 매칭하는 구조였습니다.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108960"/>
            <a:ext cx="5303520" cy="210312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24612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87422"/>
                </a:solidFill>
                <a:latin typeface="Consolas"/>
              </a:rPr>
              <a:t>QR JSON 매핑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11880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E0E6F0"/>
                </a:solidFill>
                <a:latin typeface="Consolas"/>
              </a:rPr>
              <a:t>stdy_no       →   Study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160520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E0E6F0"/>
                </a:solidFill>
                <a:latin typeface="Consolas"/>
              </a:rPr>
              <a:t>subject_id    →   Subject 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75488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9D4E2"/>
                </a:solidFill>
                <a:latin typeface="Consolas"/>
              </a:rPr>
              <a:t>Sensor Monitor 에는 QR 스캔 기능이 아직 없음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73736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2A4A"/>
                </a:solidFill>
                <a:latin typeface="맑은 고딕"/>
              </a:rPr>
              <a:t>1차 진행 계획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286000"/>
            <a:ext cx="457200" cy="45720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2606040"/>
            <a:ext cx="5120640" cy="9144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2606040"/>
            <a:ext cx="1005840" cy="9144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2889325"/>
            <a:ext cx="10058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맑은 고딕"/>
              </a:rPr>
              <a:t>STEP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2770632"/>
            <a:ext cx="393192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맑은 고딕"/>
              </a:rPr>
              <a:t>베데스다에 테스트용</a:t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맑은 고딕"/>
              </a:rPr>
              <a:t>Study ID / Subject ID 1쌍 요청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611880"/>
            <a:ext cx="5120640" cy="9144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0" y="3611880"/>
            <a:ext cx="1005840" cy="9144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3895165"/>
            <a:ext cx="10058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STEP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3776472"/>
            <a:ext cx="393192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맑은 고딕"/>
              </a:rPr>
              <a:t>앱에 임시 하드코딩 후</a:t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맑은 고딕"/>
              </a:rPr>
              <a:t>업로드 검증 진행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617720"/>
            <a:ext cx="5120640" cy="9144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0" y="4617720"/>
            <a:ext cx="1005840" cy="9144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4901005"/>
            <a:ext cx="10058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STEP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4782312"/>
            <a:ext cx="393192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맑은 고딕"/>
              </a:rPr>
              <a:t>업로드 연동 안정화 후</a:t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맑은 고딕"/>
              </a:rPr>
              <a:t>QR 스캔 기능 추가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7150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666666"/>
                </a:solidFill>
                <a:latin typeface="맑은 고딕"/>
              </a:rPr>
              <a:t>※ QR </a:t>
            </a:r>
            <a:r>
              <a:rPr sz="1100" b="0" dirty="0" err="1">
                <a:solidFill>
                  <a:srgbClr val="666666"/>
                </a:solidFill>
                <a:latin typeface="맑은 고딕"/>
              </a:rPr>
              <a:t>스캔</a:t>
            </a:r>
            <a:r>
              <a:rPr sz="1100" b="0" dirty="0">
                <a:solidFill>
                  <a:srgbClr val="666666"/>
                </a:solidFill>
                <a:latin typeface="맑은 고딕"/>
              </a:rPr>
              <a:t>: </a:t>
            </a:r>
            <a:r>
              <a:rPr sz="1100" b="0" dirty="0" err="1">
                <a:solidFill>
                  <a:srgbClr val="666666"/>
                </a:solidFill>
                <a:latin typeface="맑은 고딕"/>
              </a:rPr>
              <a:t>카메라</a:t>
            </a:r>
            <a:r>
              <a:rPr sz="1100" b="0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666666"/>
                </a:solidFill>
                <a:latin typeface="맑은 고딕"/>
              </a:rPr>
              <a:t>권한</a:t>
            </a:r>
            <a:r>
              <a:rPr sz="1100" b="0" dirty="0">
                <a:solidFill>
                  <a:srgbClr val="666666"/>
                </a:solidFill>
                <a:latin typeface="맑은 고딕"/>
              </a:rPr>
              <a:t> / </a:t>
            </a:r>
            <a:r>
              <a:rPr sz="1100" b="0" dirty="0" err="1">
                <a:solidFill>
                  <a:srgbClr val="666666"/>
                </a:solidFill>
                <a:latin typeface="맑은 고딕"/>
              </a:rPr>
              <a:t>라이브러리</a:t>
            </a:r>
            <a:r>
              <a:rPr sz="1100" b="0" dirty="0">
                <a:solidFill>
                  <a:srgbClr val="666666"/>
                </a:solidFill>
                <a:latin typeface="맑은 고딕"/>
              </a:rPr>
              <a:t> / UI </a:t>
            </a:r>
            <a:r>
              <a:rPr sz="1100" b="0" dirty="0" err="1">
                <a:solidFill>
                  <a:srgbClr val="666666"/>
                </a:solidFill>
                <a:latin typeface="맑은 고딕"/>
              </a:rPr>
              <a:t>수정</a:t>
            </a:r>
            <a:r>
              <a:rPr sz="1100" b="0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666666"/>
                </a:solidFill>
                <a:latin typeface="맑은 고딕"/>
              </a:rPr>
              <a:t>필요</a:t>
            </a:r>
            <a:r>
              <a:rPr sz="1100" b="0" dirty="0">
                <a:solidFill>
                  <a:srgbClr val="666666"/>
                </a:solidFill>
                <a:latin typeface="맑은 고딕"/>
              </a:rPr>
              <a:t> → </a:t>
            </a:r>
            <a:r>
              <a:rPr sz="1100" b="0" dirty="0" err="1">
                <a:solidFill>
                  <a:srgbClr val="666666"/>
                </a:solidFill>
                <a:latin typeface="맑은 고딕"/>
              </a:rPr>
              <a:t>후순위</a:t>
            </a:r>
            <a:endParaRPr sz="1100" b="0" dirty="0">
              <a:solidFill>
                <a:srgbClr val="666666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맑은 고딕"/>
              </a:rPr>
              <a:t>샘플 데이터 준비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맑은 고딕"/>
              </a:rPr>
              <a:t>Sensor_monitor/sensor_data.zip — 폴더 구조 한눈에 보기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731520" cy="54864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맑은 고딕"/>
              </a:rPr>
              <a:t>8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94012"/>
            <a:ext cx="2697480" cy="9601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394012"/>
            <a:ext cx="91440" cy="96012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03740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rgbClr val="0F2A4A"/>
                </a:solidFill>
                <a:latin typeface="맑은 고딕"/>
              </a:rPr>
              <a:t>175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6740" y="1714051"/>
            <a:ext cx="15293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dirty="0" err="1">
                <a:solidFill>
                  <a:srgbClr val="333333"/>
                </a:solidFill>
                <a:latin typeface="맑은 고딕"/>
              </a:rPr>
              <a:t>전체</a:t>
            </a:r>
            <a:r>
              <a:rPr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b="0" dirty="0" err="1">
                <a:solidFill>
                  <a:srgbClr val="333333"/>
                </a:solidFill>
                <a:latin typeface="맑은 고딕"/>
              </a:rPr>
              <a:t>엔트리</a:t>
            </a:r>
            <a:endParaRPr b="0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429000" y="1394012"/>
            <a:ext cx="2697480" cy="9601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29000" y="1394012"/>
            <a:ext cx="91440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03320" y="1503740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맑은 고딕"/>
              </a:rPr>
              <a:t>172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5660" y="1714052"/>
            <a:ext cx="15293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>
                <a:solidFill>
                  <a:srgbClr val="333333"/>
                </a:solidFill>
                <a:latin typeface="맑은 고딕"/>
              </a:rPr>
              <a:t>CSV 파일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394012"/>
            <a:ext cx="2697480" cy="9601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394012"/>
            <a:ext cx="91440" cy="960120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1503740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E87422"/>
                </a:solidFill>
                <a:latin typeface="맑은 고딕"/>
              </a:rPr>
              <a:t>143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4580" y="1714052"/>
            <a:ext cx="15293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>
                <a:solidFill>
                  <a:srgbClr val="333333"/>
                </a:solidFill>
                <a:latin typeface="맑은 고딕"/>
              </a:rPr>
              <a:t>sended 병합본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1394012"/>
            <a:ext cx="2697480" cy="9601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06840" y="1394012"/>
            <a:ext cx="91440" cy="96012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81160" y="1503740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666666"/>
                </a:solidFill>
                <a:latin typeface="맑은 고딕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3500" y="1714052"/>
            <a:ext cx="15293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dirty="0">
                <a:solidFill>
                  <a:srgbClr val="333333"/>
                </a:solidFill>
                <a:latin typeface="맑은 고딕"/>
              </a:rPr>
              <a:t>log </a:t>
            </a:r>
            <a:r>
              <a:rPr b="0" dirty="0" err="1">
                <a:solidFill>
                  <a:srgbClr val="333333"/>
                </a:solidFill>
                <a:latin typeface="맑은 고딕"/>
              </a:rPr>
              <a:t>파일</a:t>
            </a:r>
            <a:endParaRPr b="0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40080" y="2463860"/>
            <a:ext cx="6949440" cy="39826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2585062"/>
            <a:ext cx="6400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dirty="0">
                <a:solidFill>
                  <a:srgbClr val="E87422"/>
                </a:solidFill>
                <a:latin typeface="Consolas"/>
              </a:rPr>
              <a:t>📁 </a:t>
            </a:r>
            <a:r>
              <a:rPr b="1" dirty="0" err="1">
                <a:solidFill>
                  <a:srgbClr val="E87422"/>
                </a:solidFill>
                <a:latin typeface="Consolas"/>
              </a:rPr>
              <a:t>폴더</a:t>
            </a:r>
            <a:r>
              <a:rPr b="1" dirty="0">
                <a:solidFill>
                  <a:srgbClr val="E87422"/>
                </a:solidFill>
                <a:latin typeface="Consolas"/>
              </a:rPr>
              <a:t> </a:t>
            </a:r>
            <a:r>
              <a:rPr b="1" dirty="0" err="1">
                <a:solidFill>
                  <a:srgbClr val="E87422"/>
                </a:solidFill>
                <a:latin typeface="Consolas"/>
              </a:rPr>
              <a:t>구조</a:t>
            </a:r>
            <a:endParaRPr b="1" dirty="0">
              <a:solidFill>
                <a:srgbClr val="E87422"/>
              </a:solidFill>
              <a:latin typeface="Consola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14400" y="2933243"/>
            <a:ext cx="4381008" cy="34086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400" b="1" dirty="0" err="1">
                <a:solidFill>
                  <a:srgbClr val="FFFFFF"/>
                </a:solidFill>
                <a:latin typeface="Consolas"/>
              </a:rPr>
              <a:t>sensor_data</a:t>
            </a:r>
            <a:r>
              <a:rPr sz="1400" b="1" dirty="0">
                <a:solidFill>
                  <a:srgbClr val="FFFFFF"/>
                </a:solidFill>
                <a:latin typeface="Consolas"/>
              </a:rPr>
              <a:t>/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0E6F0"/>
                </a:solidFill>
                <a:latin typeface="Consolas"/>
              </a:rPr>
              <a:t>├─ logs/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8A95A8"/>
                </a:solidFill>
                <a:latin typeface="Consolas"/>
              </a:rPr>
              <a:t>├─ </a:t>
            </a:r>
            <a:r>
              <a:rPr sz="1300" b="1" dirty="0" err="1">
                <a:solidFill>
                  <a:srgbClr val="FFFFFF"/>
                </a:solidFill>
                <a:latin typeface="Consolas"/>
              </a:rPr>
              <a:t>HeartRate</a:t>
            </a:r>
            <a:r>
              <a:rPr sz="1300" b="1" dirty="0">
                <a:solidFill>
                  <a:srgbClr val="FFFFFF"/>
                </a:solidFill>
                <a:latin typeface="Consolas"/>
              </a:rPr>
              <a:t>/                  </a:t>
            </a:r>
            <a:r>
              <a:rPr sz="1100" dirty="0">
                <a:solidFill>
                  <a:srgbClr val="8A95A8"/>
                </a:solidFill>
                <a:latin typeface="Consolas"/>
              </a:rPr>
              <a:t>← </a:t>
            </a:r>
            <a:r>
              <a:rPr sz="1100" dirty="0" err="1">
                <a:solidFill>
                  <a:srgbClr val="8A95A8"/>
                </a:solidFill>
                <a:latin typeface="Consolas"/>
              </a:rPr>
              <a:t>센서</a:t>
            </a:r>
            <a:r>
              <a:rPr sz="1100" dirty="0">
                <a:solidFill>
                  <a:srgbClr val="8A95A8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8A95A8"/>
                </a:solidFill>
                <a:latin typeface="Consolas"/>
              </a:rPr>
              <a:t>폴더</a:t>
            </a:r>
            <a:endParaRPr sz="1100" dirty="0">
              <a:solidFill>
                <a:srgbClr val="8A95A8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8A95A8"/>
                </a:solidFill>
                <a:latin typeface="Consolas"/>
              </a:rPr>
              <a:t>│   ├─ </a:t>
            </a:r>
            <a:r>
              <a:rPr sz="1300" dirty="0">
                <a:solidFill>
                  <a:srgbClr val="E0E6F0"/>
                </a:solidFill>
                <a:latin typeface="Consolas"/>
              </a:rPr>
              <a:t>HeartRate_260330_190548.csv     </a:t>
            </a:r>
            <a:r>
              <a:rPr sz="1100" dirty="0">
                <a:solidFill>
                  <a:srgbClr val="8A95A8"/>
                </a:solidFill>
                <a:latin typeface="Consolas"/>
              </a:rPr>
              <a:t>← 5분 </a:t>
            </a:r>
            <a:r>
              <a:rPr sz="1100" dirty="0" err="1">
                <a:solidFill>
                  <a:srgbClr val="8A95A8"/>
                </a:solidFill>
                <a:latin typeface="Consolas"/>
              </a:rPr>
              <a:t>조각</a:t>
            </a:r>
            <a:endParaRPr sz="1100" dirty="0">
              <a:solidFill>
                <a:srgbClr val="8A95A8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8A95A8"/>
                </a:solidFill>
                <a:latin typeface="Consolas"/>
              </a:rPr>
              <a:t>│   ├─ </a:t>
            </a:r>
            <a:r>
              <a:rPr sz="1300" dirty="0">
                <a:solidFill>
                  <a:srgbClr val="E0E6F0"/>
                </a:solidFill>
                <a:latin typeface="Consolas"/>
              </a:rPr>
              <a:t>HeartRate_260330_191048.csv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8A95A8"/>
                </a:solidFill>
                <a:latin typeface="Consolas"/>
              </a:rPr>
              <a:t>│   ├─  …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8A95A8"/>
                </a:solidFill>
                <a:latin typeface="Consolas"/>
              </a:rPr>
              <a:t>│   └─ </a:t>
            </a:r>
            <a:r>
              <a:rPr sz="1300" b="1" dirty="0" err="1">
                <a:solidFill>
                  <a:srgbClr val="E87422"/>
                </a:solidFill>
                <a:latin typeface="Consolas"/>
              </a:rPr>
              <a:t>sended</a:t>
            </a:r>
            <a:r>
              <a:rPr sz="1300" b="1" dirty="0">
                <a:solidFill>
                  <a:srgbClr val="E87422"/>
                </a:solidFill>
                <a:latin typeface="Consolas"/>
              </a:rPr>
              <a:t>/   ← </a:t>
            </a:r>
            <a:r>
              <a:rPr sz="1300" b="1" dirty="0" err="1">
                <a:solidFill>
                  <a:srgbClr val="E87422"/>
                </a:solidFill>
                <a:latin typeface="Consolas"/>
              </a:rPr>
              <a:t>전송</a:t>
            </a:r>
            <a:r>
              <a:rPr sz="1300" b="1" dirty="0">
                <a:solidFill>
                  <a:srgbClr val="E87422"/>
                </a:solidFill>
                <a:latin typeface="Consolas"/>
              </a:rPr>
              <a:t> </a:t>
            </a:r>
            <a:r>
              <a:rPr sz="1300" b="1" dirty="0" err="1">
                <a:solidFill>
                  <a:srgbClr val="E87422"/>
                </a:solidFill>
                <a:latin typeface="Consolas"/>
              </a:rPr>
              <a:t>성공한</a:t>
            </a:r>
            <a:r>
              <a:rPr sz="1300" b="1" dirty="0">
                <a:solidFill>
                  <a:srgbClr val="E87422"/>
                </a:solidFill>
                <a:latin typeface="Consolas"/>
              </a:rPr>
              <a:t> </a:t>
            </a:r>
            <a:r>
              <a:rPr sz="1300" b="1" dirty="0" err="1">
                <a:solidFill>
                  <a:srgbClr val="E87422"/>
                </a:solidFill>
                <a:latin typeface="Consolas"/>
              </a:rPr>
              <a:t>병합본</a:t>
            </a:r>
            <a:endParaRPr sz="1300" b="1" dirty="0">
              <a:solidFill>
                <a:srgbClr val="E87422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8A95A8"/>
                </a:solidFill>
                <a:latin typeface="Consolas"/>
              </a:rPr>
              <a:t>│       ├─ </a:t>
            </a:r>
            <a:r>
              <a:rPr sz="1300" b="1" dirty="0">
                <a:solidFill>
                  <a:srgbClr val="E87422"/>
                </a:solidFill>
                <a:latin typeface="Consolas"/>
              </a:rPr>
              <a:t>HeartRate_260330_1130.csv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8A95A8"/>
                </a:solidFill>
                <a:latin typeface="Consolas"/>
              </a:rPr>
              <a:t>│       ├─ </a:t>
            </a:r>
            <a:r>
              <a:rPr sz="1300" b="1" dirty="0">
                <a:solidFill>
                  <a:srgbClr val="E87422"/>
                </a:solidFill>
                <a:latin typeface="Consolas"/>
              </a:rPr>
              <a:t>HeartRate_260330_1200.csv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8A95A8"/>
                </a:solidFill>
                <a:latin typeface="Consolas"/>
              </a:rPr>
              <a:t>│       └─  </a:t>
            </a:r>
            <a:r>
              <a:rPr sz="1300" dirty="0">
                <a:solidFill>
                  <a:srgbClr val="E87422"/>
                </a:solidFill>
                <a:latin typeface="Consolas"/>
              </a:rPr>
              <a:t>…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0E6F0"/>
                </a:solidFill>
                <a:latin typeface="Consolas"/>
              </a:rPr>
              <a:t>├─ Accelerometer/  …  (</a:t>
            </a:r>
            <a:r>
              <a:rPr sz="1300" dirty="0" err="1">
                <a:solidFill>
                  <a:srgbClr val="E0E6F0"/>
                </a:solidFill>
                <a:latin typeface="Consolas"/>
              </a:rPr>
              <a:t>동일</a:t>
            </a:r>
            <a:r>
              <a:rPr sz="1300" dirty="0">
                <a:solidFill>
                  <a:srgbClr val="E0E6F0"/>
                </a:solidFill>
                <a:latin typeface="Consolas"/>
              </a:rPr>
              <a:t> </a:t>
            </a:r>
            <a:r>
              <a:rPr sz="1300" dirty="0" err="1">
                <a:solidFill>
                  <a:srgbClr val="E0E6F0"/>
                </a:solidFill>
                <a:latin typeface="Consolas"/>
              </a:rPr>
              <a:t>구조</a:t>
            </a:r>
            <a:r>
              <a:rPr sz="1300" dirty="0">
                <a:solidFill>
                  <a:srgbClr val="E0E6F0"/>
                </a:solidFill>
                <a:latin typeface="Consolas"/>
              </a:rPr>
              <a:t>: </a:t>
            </a:r>
            <a:r>
              <a:rPr sz="1300" dirty="0" err="1">
                <a:solidFill>
                  <a:srgbClr val="E0E6F0"/>
                </a:solidFill>
                <a:latin typeface="Consolas"/>
              </a:rPr>
              <a:t>조각</a:t>
            </a:r>
            <a:r>
              <a:rPr sz="1300" dirty="0">
                <a:solidFill>
                  <a:srgbClr val="E0E6F0"/>
                </a:solidFill>
                <a:latin typeface="Consolas"/>
              </a:rPr>
              <a:t> + </a:t>
            </a:r>
            <a:r>
              <a:rPr sz="1300" dirty="0" err="1">
                <a:solidFill>
                  <a:srgbClr val="E0E6F0"/>
                </a:solidFill>
                <a:latin typeface="Consolas"/>
              </a:rPr>
              <a:t>sended</a:t>
            </a:r>
            <a:r>
              <a:rPr sz="1300" dirty="0">
                <a:solidFill>
                  <a:srgbClr val="E0E6F0"/>
                </a:solidFill>
                <a:latin typeface="Consolas"/>
              </a:rPr>
              <a:t>/)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0E6F0"/>
                </a:solidFill>
                <a:latin typeface="Consolas"/>
              </a:rPr>
              <a:t>├─ Gyroscope/      …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0E6F0"/>
                </a:solidFill>
                <a:latin typeface="Consolas"/>
              </a:rPr>
              <a:t>├─ Gravity/        …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0E6F0"/>
                </a:solidFill>
                <a:latin typeface="Consolas"/>
              </a:rPr>
              <a:t>├─ Light/          …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0E6F0"/>
                </a:solidFill>
                <a:latin typeface="Consolas"/>
              </a:rPr>
              <a:t>├─ </a:t>
            </a:r>
            <a:r>
              <a:rPr sz="1300" dirty="0" err="1">
                <a:solidFill>
                  <a:srgbClr val="E0E6F0"/>
                </a:solidFill>
                <a:latin typeface="Consolas"/>
              </a:rPr>
              <a:t>PpgGreen</a:t>
            </a:r>
            <a:r>
              <a:rPr sz="1300" dirty="0">
                <a:solidFill>
                  <a:srgbClr val="E0E6F0"/>
                </a:solidFill>
                <a:latin typeface="Consolas"/>
              </a:rPr>
              <a:t>/       …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0E6F0"/>
                </a:solidFill>
                <a:latin typeface="Consolas"/>
              </a:rPr>
              <a:t>└─ </a:t>
            </a:r>
            <a:r>
              <a:rPr sz="1300" dirty="0" err="1">
                <a:solidFill>
                  <a:srgbClr val="E0E6F0"/>
                </a:solidFill>
                <a:latin typeface="Consolas"/>
              </a:rPr>
              <a:t>StepCount</a:t>
            </a:r>
            <a:r>
              <a:rPr sz="1300" dirty="0">
                <a:solidFill>
                  <a:srgbClr val="E0E6F0"/>
                </a:solidFill>
                <a:latin typeface="Consolas"/>
              </a:rPr>
              <a:t>/      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26679" y="2743200"/>
            <a:ext cx="3840480" cy="21031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26679" y="2743200"/>
            <a:ext cx="3840480" cy="73152"/>
          </a:xfrm>
          <a:prstGeom prst="rect">
            <a:avLst/>
          </a:prstGeom>
          <a:solidFill>
            <a:srgbClr val="E87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55279" y="292608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F2A4A"/>
                </a:solidFill>
                <a:latin typeface="맑은 고딕"/>
              </a:rPr>
              <a:t>핵심 포인트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3383280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87422"/>
                </a:solidFill>
                <a:latin typeface="맑은 고딕"/>
              </a:rP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3364992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2A4A"/>
                </a:solidFill>
                <a:latin typeface="맑은 고딕"/>
              </a:rPr>
              <a:t>센서별 폴더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9" y="358444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맑은 고딕"/>
              </a:rPr>
              <a:t>7종 동일 구조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3749040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87422"/>
                </a:solidFill>
                <a:latin typeface="맑은 고딕"/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3730752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2A4A"/>
                </a:solidFill>
                <a:latin typeface="맑은 고딕"/>
              </a:rPr>
              <a:t>5분 조각 CSV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395020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맑은 고딕"/>
              </a:rPr>
              <a:t>센서 폴더 바로 아래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4114800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87422"/>
                </a:solidFill>
                <a:latin typeface="맑은 고딕"/>
              </a:rPr>
              <a:t>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79" y="4096512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2A4A"/>
                </a:solidFill>
                <a:latin typeface="맑은 고딕"/>
              </a:rPr>
              <a:t>sended/ 하위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79" y="4315968"/>
            <a:ext cx="31546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 err="1">
                <a:solidFill>
                  <a:srgbClr val="333333"/>
                </a:solidFill>
                <a:latin typeface="맑은 고딕"/>
              </a:rPr>
              <a:t>병합본</a:t>
            </a:r>
            <a:r>
              <a:rPr lang="en-US" altLang="ko-KR" sz="1000" b="0" dirty="0">
                <a:solidFill>
                  <a:srgbClr val="333333"/>
                </a:solidFill>
                <a:latin typeface="맑은 고딕"/>
              </a:rPr>
              <a:t> CSV</a:t>
            </a:r>
            <a:r>
              <a:rPr lang="ko-KR" altLang="en-US" sz="1000" b="0" dirty="0">
                <a:solidFill>
                  <a:srgbClr val="333333"/>
                </a:solidFill>
                <a:latin typeface="맑은 고딕"/>
              </a:rPr>
              <a:t>파일</a:t>
            </a:r>
            <a:endParaRPr sz="1000" b="0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955279" y="4480560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87422"/>
                </a:solidFill>
                <a:latin typeface="맑은 고딕"/>
              </a:rPr>
              <a:t>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79" y="4462272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 err="1">
                <a:solidFill>
                  <a:srgbClr val="0F2A4A"/>
                </a:solidFill>
                <a:latin typeface="맑은 고딕"/>
              </a:rPr>
              <a:t>sended</a:t>
            </a:r>
            <a:r>
              <a:rPr sz="1100" b="1" dirty="0">
                <a:solidFill>
                  <a:srgbClr val="0F2A4A"/>
                </a:solidFill>
                <a:latin typeface="맑은 고딕"/>
              </a:rPr>
              <a:t> =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79" y="46817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맑은 고딕"/>
              </a:rPr>
              <a:t>전송 성공 보관 위치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26679" y="4983480"/>
            <a:ext cx="3840480" cy="14630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955279" y="5120640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포함 센서 (7종)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79" y="54146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FFFFFF"/>
                </a:solidFill>
                <a:latin typeface="Consolas"/>
              </a:rPr>
              <a:t>▸ </a:t>
            </a:r>
            <a:r>
              <a:rPr sz="1000" b="0" dirty="0" err="1">
                <a:solidFill>
                  <a:srgbClr val="FFFFFF"/>
                </a:solidFill>
                <a:latin typeface="Consolas"/>
              </a:rPr>
              <a:t>PpgGreen</a:t>
            </a:r>
            <a:endParaRPr sz="1000" b="0" dirty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738359" y="54146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onsolas"/>
              </a:rPr>
              <a:t>▸ HeartRate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79" y="567071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FFFFFF"/>
                </a:solidFill>
                <a:latin typeface="Consolas"/>
              </a:rPr>
              <a:t>▸ Accelerometer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38359" y="567071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onsolas"/>
              </a:rPr>
              <a:t>▸ Gyroscope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79" y="5926744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onsolas"/>
              </a:rPr>
              <a:t>▸ Gravity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38359" y="5926744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onsolas"/>
              </a:rPr>
              <a:t>▸ Light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618277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onsolas"/>
              </a:rPr>
              <a:t>▸ StepCount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A2513C6-E4BC-44F3-80D7-951C666E6F24}"/>
              </a:ext>
            </a:extLst>
          </p:cNvPr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666666"/>
                </a:solidFill>
                <a:latin typeface="맑은 고딕"/>
              </a:rPr>
              <a:t>Sensor Monitor → </a:t>
            </a:r>
            <a:r>
              <a:rPr sz="1000" b="0" dirty="0" err="1">
                <a:solidFill>
                  <a:srgbClr val="666666"/>
                </a:solidFill>
                <a:latin typeface="맑은 고딕"/>
              </a:rPr>
              <a:t>베데스다</a:t>
            </a:r>
            <a:r>
              <a:rPr sz="1000" b="0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66666"/>
                </a:solidFill>
                <a:latin typeface="맑은 고딕"/>
              </a:rPr>
              <a:t>iCReaT</a:t>
            </a:r>
            <a:r>
              <a:rPr sz="1000" b="0" dirty="0">
                <a:solidFill>
                  <a:srgbClr val="666666"/>
                </a:solidFill>
                <a:latin typeface="맑은 고딕"/>
              </a:rPr>
              <a:t> DCT </a:t>
            </a:r>
            <a:r>
              <a:rPr sz="1000" b="0" dirty="0" err="1">
                <a:solidFill>
                  <a:srgbClr val="666666"/>
                </a:solidFill>
                <a:latin typeface="맑은 고딕"/>
              </a:rPr>
              <a:t>서버</a:t>
            </a:r>
            <a:r>
              <a:rPr sz="1000" b="0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66666"/>
                </a:solidFill>
                <a:latin typeface="맑은 고딕"/>
              </a:rPr>
              <a:t>전환</a:t>
            </a:r>
            <a:endParaRPr sz="1000" b="0" dirty="0">
              <a:solidFill>
                <a:srgbClr val="666666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840</Words>
  <Application>Microsoft Office PowerPoint</Application>
  <PresentationFormat>와이드스크린</PresentationFormat>
  <Paragraphs>179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GACHON</cp:lastModifiedBy>
  <cp:revision>4</cp:revision>
  <dcterms:created xsi:type="dcterms:W3CDTF">2013-01-27T09:14:16Z</dcterms:created>
  <dcterms:modified xsi:type="dcterms:W3CDTF">2026-05-12T13:20:52Z</dcterms:modified>
  <cp:category/>
</cp:coreProperties>
</file>
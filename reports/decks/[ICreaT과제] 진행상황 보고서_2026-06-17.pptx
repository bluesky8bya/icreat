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ICReaT 과제 진행상황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C8D4E4"/>
                </a:solidFill>
                <a:latin typeface="맑은 고딕"/>
              </a:rPr>
              <a:t>Sensor Monitor → 베데스다 iCReaT DCT 서버 CSV 업로드 전환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0C8"/>
                </a:solidFill>
                <a:latin typeface="맑은 고딕"/>
              </a:rPr>
              <a:t>2026-06-17 (수)  ·  직전 보고(2026-05-27) 이후 경과 중심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0F2A4A"/>
                </a:solidFill>
                <a:latin typeface="맑은 고딕"/>
              </a:rPr>
              <a:t>직전(05-27) 시점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731520" cy="54864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Sensor Monitor → 베데스다 iCReaT DCT 서버 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2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10881360" cy="54864"/>
          </a:xfrm>
          <a:prstGeom prst="rect">
            <a:avLst/>
          </a:prstGeom>
          <a:solidFill>
            <a:srgbClr val="8A9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901952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dirty="0">
                <a:solidFill>
                  <a:srgbClr val="0F2A4A"/>
                </a:solidFill>
                <a:latin typeface="맑은 고딕"/>
              </a:rPr>
              <a:t>앱 </a:t>
            </a:r>
            <a:r>
              <a:rPr sz="1600" b="1" dirty="0" err="1">
                <a:solidFill>
                  <a:srgbClr val="0F2A4A"/>
                </a:solidFill>
                <a:latin typeface="맑은 고딕"/>
              </a:rPr>
              <a:t>전송</a:t>
            </a:r>
            <a:r>
              <a:rPr sz="1600" b="1" dirty="0">
                <a:solidFill>
                  <a:srgbClr val="0F2A4A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0F2A4A"/>
                </a:solidFill>
                <a:latin typeface="맑은 고딕"/>
              </a:rPr>
              <a:t>규격을</a:t>
            </a:r>
            <a:r>
              <a:rPr sz="1600" b="1" dirty="0">
                <a:solidFill>
                  <a:srgbClr val="0F2A4A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0F2A4A"/>
                </a:solidFill>
                <a:latin typeface="맑은 고딕"/>
              </a:rPr>
              <a:t>베데스다</a:t>
            </a:r>
            <a:r>
              <a:rPr sz="1600" b="1" dirty="0">
                <a:solidFill>
                  <a:srgbClr val="0F2A4A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0F2A4A"/>
                </a:solidFill>
                <a:latin typeface="맑은 고딕"/>
              </a:rPr>
              <a:t>형식으로</a:t>
            </a:r>
            <a:r>
              <a:rPr sz="1600" b="1" dirty="0">
                <a:solidFill>
                  <a:srgbClr val="0F2A4A"/>
                </a:solidFill>
                <a:latin typeface="맑은 고딕"/>
              </a:rPr>
              <a:t> 1차 </a:t>
            </a:r>
            <a:r>
              <a:rPr sz="1600" b="1" dirty="0" err="1">
                <a:solidFill>
                  <a:srgbClr val="0F2A4A"/>
                </a:solidFill>
                <a:latin typeface="맑은 고딕"/>
              </a:rPr>
              <a:t>전환</a:t>
            </a:r>
            <a:r>
              <a:rPr sz="1600" b="1" dirty="0">
                <a:solidFill>
                  <a:srgbClr val="0F2A4A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0F2A4A"/>
                </a:solidFill>
                <a:latin typeface="맑은 고딕"/>
              </a:rPr>
              <a:t>완료</a:t>
            </a:r>
            <a:endParaRPr sz="1600" b="1" dirty="0">
              <a:solidFill>
                <a:srgbClr val="0F2A4A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" y="2157984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userID → studyId/subjectId, 5개 파일 수정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33472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615184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dirty="0" err="1">
                <a:solidFill>
                  <a:srgbClr val="0F2A4A"/>
                </a:solidFill>
                <a:latin typeface="맑은 고딕"/>
              </a:rPr>
              <a:t>로그인</a:t>
            </a:r>
            <a:r>
              <a:rPr sz="1600" b="1" dirty="0">
                <a:solidFill>
                  <a:srgbClr val="0F2A4A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0F2A4A"/>
                </a:solidFill>
                <a:latin typeface="맑은 고딕"/>
              </a:rPr>
              <a:t>단계는</a:t>
            </a:r>
            <a:r>
              <a:rPr sz="1600" b="1" dirty="0">
                <a:solidFill>
                  <a:srgbClr val="0F2A4A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0F2A4A"/>
                </a:solidFill>
                <a:latin typeface="맑은 고딕"/>
              </a:rPr>
              <a:t>무인증</a:t>
            </a:r>
            <a:r>
              <a:rPr sz="1600" b="1" dirty="0">
                <a:solidFill>
                  <a:srgbClr val="0F2A4A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0F2A4A"/>
                </a:solidFill>
                <a:latin typeface="맑은 고딕"/>
              </a:rPr>
              <a:t>정책에</a:t>
            </a:r>
            <a:r>
              <a:rPr sz="1600" b="1" dirty="0">
                <a:solidFill>
                  <a:srgbClr val="0F2A4A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0F2A4A"/>
                </a:solidFill>
                <a:latin typeface="맑은 고딕"/>
              </a:rPr>
              <a:t>맞춰</a:t>
            </a:r>
            <a:r>
              <a:rPr sz="1600" b="1" dirty="0">
                <a:solidFill>
                  <a:srgbClr val="0F2A4A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0F2A4A"/>
                </a:solidFill>
                <a:latin typeface="맑은 고딕"/>
              </a:rPr>
              <a:t>우회</a:t>
            </a:r>
            <a:r>
              <a:rPr sz="1600" b="1" dirty="0">
                <a:solidFill>
                  <a:srgbClr val="0F2A4A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0F2A4A"/>
                </a:solidFill>
                <a:latin typeface="맑은 고딕"/>
              </a:rPr>
              <a:t>처리</a:t>
            </a:r>
            <a:endParaRPr sz="1600" b="1" dirty="0">
              <a:solidFill>
                <a:srgbClr val="0F2A4A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15568" y="2871216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dirty="0" err="1">
                <a:solidFill>
                  <a:srgbClr val="333333"/>
                </a:solidFill>
                <a:latin typeface="맑은 고딕"/>
              </a:rPr>
              <a:t>네트워크</a:t>
            </a:r>
            <a:r>
              <a:rPr sz="1300" b="0" dirty="0">
                <a:solidFill>
                  <a:srgbClr val="333333"/>
                </a:solidFill>
                <a:latin typeface="맑은 고딕"/>
              </a:rPr>
              <a:t> login()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제거</a:t>
            </a:r>
            <a:r>
              <a:rPr sz="13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방향</a:t>
            </a:r>
            <a:endParaRPr sz="1300" b="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346704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328416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2A4A"/>
                </a:solidFill>
                <a:latin typeface="맑은 고딕"/>
              </a:rPr>
              <a:t>단, 실제 검증은 두 값에 막혀 있었음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584448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엔드포인트 URL · 테스트용 Study/Subject ID 미수신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59936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041648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2A4A"/>
                </a:solidFill>
                <a:latin typeface="맑은 고딕"/>
              </a:rPr>
              <a:t>코드에는 placeholder만 들어가 있었음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297680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REQUEST_URL = .../REPLACE_WITH_BETHESDA_ENDPOINT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669280"/>
            <a:ext cx="10424160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5669280"/>
            <a:ext cx="91440" cy="640080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582472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F2A4A"/>
                </a:solidFill>
                <a:latin typeface="맑은 고딕"/>
              </a:rPr>
              <a:t>→ 즉, 05-27엔 '코드 준비 완료, 서버 값 대기' 상태 — 실제 전송은 한 번도 안 해본 시점이었음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dirty="0" err="1">
                <a:solidFill>
                  <a:srgbClr val="0F2A4A"/>
                </a:solidFill>
                <a:latin typeface="맑은 고딕"/>
              </a:rPr>
              <a:t>이후</a:t>
            </a:r>
            <a:r>
              <a:rPr sz="2800" b="1" dirty="0">
                <a:solidFill>
                  <a:srgbClr val="0F2A4A"/>
                </a:solidFill>
                <a:latin typeface="맑은 고딕"/>
              </a:rPr>
              <a:t> </a:t>
            </a:r>
            <a:r>
              <a:rPr sz="2800" b="1" dirty="0" err="1">
                <a:solidFill>
                  <a:srgbClr val="0F2A4A"/>
                </a:solidFill>
                <a:latin typeface="맑은 고딕"/>
              </a:rPr>
              <a:t>경과</a:t>
            </a:r>
            <a:endParaRPr sz="2800" b="1" dirty="0">
              <a:solidFill>
                <a:srgbClr val="0F2A4A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</a:rPr>
              <a:t>API 가이드 수신 → 실값 반영 → 경로 이슈 해결 → 단독 검증 → 적재 확인 요청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731520" cy="54864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Sensor Monitor → 베데스다 iCReaT DCT 서버 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3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83664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10512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F2A4A"/>
                </a:solidFill>
                <a:latin typeface="맑은 고딕"/>
              </a:rPr>
              <a:t>베데스다 API 연동 가이드 정식 수신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39696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엔드포인트·5필드·응답코드·테스트 대상자·DB 저장규격 문서화됨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706624"/>
            <a:ext cx="50292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761488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688336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F2A4A"/>
                </a:solidFill>
                <a:latin typeface="맑은 고딕"/>
              </a:rPr>
              <a:t>실제 값 코드 반영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01752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placeholder → 실 엔드포인트, 테스트 ID(C250005 / 121-001) 적용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584448"/>
            <a:ext cx="502920" cy="502920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639312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56616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F2A4A"/>
                </a:solidFill>
                <a:latin typeface="맑은 고딕"/>
              </a:rPr>
              <a:t>경로 이슈 발견·해결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가이드 경로가 404(200+HTML) → 동작 경로(루트 /invoke/...)로 교정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462272"/>
            <a:ext cx="502920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517136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443984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F2A4A"/>
                </a:solidFill>
                <a:latin typeface="맑은 고딕"/>
              </a:rPr>
              <a:t>curl 단독 전송 검증 통과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773168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HTTP 200 + status:success 응답 확인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340096"/>
            <a:ext cx="502920" cy="502920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394960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321808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F2A4A"/>
                </a:solidFill>
                <a:latin typeface="맑은 고딕"/>
              </a:rPr>
              <a:t>서버 DB 적재 확인 요청 (진행 중)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65099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응답은 성공이나 실제 DB 적재는 직접 확인 불가 → 담당자에 확인 요청함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731520" cy="73152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dirty="0">
                <a:solidFill>
                  <a:srgbClr val="FFFFFF"/>
                </a:solidFill>
                <a:latin typeface="맑은 고딕"/>
              </a:rPr>
              <a:t>핵</a:t>
            </a:r>
            <a:r>
              <a:rPr lang="ko-KR" altLang="en-US" sz="3000" b="1" dirty="0">
                <a:solidFill>
                  <a:srgbClr val="FFFFFF"/>
                </a:solidFill>
                <a:latin typeface="맑은 고딕"/>
              </a:rPr>
              <a:t>심</a:t>
            </a:r>
            <a:endParaRPr sz="30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베데스다 서버 엔드포인트 전송 성공 응답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8D4E4"/>
                </a:solidFill>
                <a:latin typeface="맑은 고딕"/>
              </a:rPr>
              <a:t>센서 CSV 1건 전송 → 200 + status:success 응답 확인 (DB 적재 여부는 담당자 확인 대기)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66160"/>
            <a:ext cx="3383280" cy="1737360"/>
          </a:xfrm>
          <a:prstGeom prst="rect">
            <a:avLst/>
          </a:prstGeom>
          <a:solidFill>
            <a:srgbClr val="16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3566160"/>
            <a:ext cx="3383280" cy="1097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Consolas"/>
              </a:rPr>
              <a:t>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C8D4E4"/>
                </a:solidFill>
                <a:latin typeface="맑은 고딕"/>
              </a:rPr>
              <a:t>HTTP 응답 성공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3566160"/>
            <a:ext cx="3383280" cy="1737360"/>
          </a:xfrm>
          <a:prstGeom prst="rect">
            <a:avLst/>
          </a:prstGeom>
          <a:solidFill>
            <a:srgbClr val="16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17720" y="3566160"/>
            <a:ext cx="3383280" cy="1097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3977639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Consolas"/>
              </a:rPr>
              <a:t>success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8006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C8D4E4"/>
                </a:solidFill>
                <a:latin typeface="맑은 고딕"/>
              </a:rPr>
              <a:t>JSON status 정상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3566160"/>
            <a:ext cx="3383280" cy="1737360"/>
          </a:xfrm>
          <a:prstGeom prst="rect">
            <a:avLst/>
          </a:prstGeom>
          <a:solidFill>
            <a:srgbClr val="16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3566160"/>
            <a:ext cx="3383280" cy="109728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3977639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Consolas"/>
              </a:rPr>
              <a:t>적재 확인 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8006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C8D4E4"/>
                </a:solidFill>
                <a:latin typeface="맑은 고딕"/>
              </a:rPr>
              <a:t>담당자 회신 대기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87422"/>
                </a:solidFill>
                <a:latin typeface="맑은 고딕"/>
              </a:rPr>
              <a:t>→ 05-27의 '대기' 상태를 넘어, 전송이 성공 응답을 받는 단계까지 도달함 (실제 DB 적재는 담당자 확인 후 확정)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0F2A4A"/>
                </a:solidFill>
                <a:latin typeface="맑은 고딕"/>
              </a:rPr>
              <a:t>수신한 API 명세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</a:rPr>
              <a:t>베데스다 제공 연동 가이드 — 검증의 전제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731520" cy="54864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Sensor Monitor → 베데스다 iCReaT DCT 서버 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5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691640"/>
            <a:ext cx="10607040" cy="5029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79222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0E6F0"/>
                </a:solidFill>
                <a:latin typeface="Consolas"/>
              </a:rPr>
              <a:t>POST https://icreatdct.btsd.io/invoke/DCT/Sensor/uploadCsv   (multipart, 무인증, 성공=200)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F2A4A"/>
                </a:solidFill>
                <a:latin typeface="맑은 고딕"/>
              </a:rPr>
              <a:t>응답 코드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80360"/>
            <a:ext cx="914400" cy="457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9443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97180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성공 — 업로드 완료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447288"/>
            <a:ext cx="914400" cy="457200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511296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401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538728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동일 파일명 중복 전송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014216"/>
            <a:ext cx="914400" cy="457200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07822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403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105656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필수 파라미터 누락/오류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581144"/>
            <a:ext cx="91440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64515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405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4672584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등록되지 않은 대상자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148072"/>
            <a:ext cx="91440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2120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406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23951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DB 접속/처리 오류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4231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F2A4A"/>
                </a:solidFill>
                <a:latin typeface="맑은 고딕"/>
              </a:rPr>
              <a:t>테스트 대상자 (가이드 §8)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880360"/>
            <a:ext cx="4937760" cy="457200"/>
          </a:xfrm>
          <a:prstGeom prst="rect">
            <a:avLst/>
          </a:prstGeom>
          <a:solidFill>
            <a:srgbClr val="F5F7FA"/>
          </a:solidFill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2971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F2A4A"/>
                </a:solidFill>
                <a:latin typeface="Consolas"/>
              </a:rPr>
              <a:t>C250005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99008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121-001  ← 검증에 사용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447288"/>
            <a:ext cx="4937760" cy="457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0" y="353872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F2A4A"/>
                </a:solidFill>
                <a:latin typeface="Consolas"/>
              </a:rPr>
              <a:t>C250002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55701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001-002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014216"/>
            <a:ext cx="4937760" cy="457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4105656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F2A4A"/>
                </a:solidFill>
                <a:latin typeface="Consolas"/>
              </a:rPr>
              <a:t>C250002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123944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001-001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7091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F2A4A"/>
                </a:solidFill>
                <a:latin typeface="맑은 고딕"/>
              </a:rPr>
              <a:t>서버 저장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12064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Consolas"/>
              </a:rPr>
              <a:t>원본 CSV: sensor_upload/{study}/{subject}/{날짜}/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Consolas"/>
              </a:rPr>
              <a:t>이력 DB:  dct_sensor_upload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0F2A4A"/>
                </a:solidFill>
                <a:latin typeface="맑은 고딕"/>
              </a:rPr>
              <a:t>검증 중 발견·해결한 이슈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</a:rPr>
              <a:t>가이드 경로가 그대로는 동작하지 않았음 — 진단 후 교정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731520" cy="54864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Sensor Monitor → 베데스다 iCReaT DCT 서버 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6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5120640" cy="18288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8A95A8"/>
                </a:solidFill>
                <a:latin typeface="맑은 고딕"/>
              </a:rPr>
              <a:t>가이드 문서 경로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7744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dirty="0">
                <a:solidFill>
                  <a:srgbClr val="E06C6C"/>
                </a:solidFill>
                <a:latin typeface="Consolas"/>
              </a:rPr>
              <a:t>/</a:t>
            </a:r>
            <a:r>
              <a:rPr sz="1400" b="0" dirty="0" err="1">
                <a:solidFill>
                  <a:srgbClr val="E06C6C"/>
                </a:solidFill>
                <a:latin typeface="Consolas"/>
              </a:rPr>
              <a:t>iCReaT_DCT</a:t>
            </a:r>
            <a:r>
              <a:rPr sz="1400" b="0" dirty="0">
                <a:solidFill>
                  <a:srgbClr val="E06C6C"/>
                </a:solidFill>
                <a:latin typeface="Consolas"/>
              </a:rPr>
              <a:t>/invoke</a:t>
            </a:r>
          </a:p>
          <a:p>
            <a:pPr algn="l">
              <a:spcAft>
                <a:spcPts val="300"/>
              </a:spcAft>
            </a:pPr>
            <a:r>
              <a:rPr sz="1400" b="0" dirty="0">
                <a:solidFill>
                  <a:srgbClr val="E06C6C"/>
                </a:solidFill>
                <a:latin typeface="Consolas"/>
              </a:rPr>
              <a:t>        /DCT/Sensor/</a:t>
            </a:r>
            <a:r>
              <a:rPr sz="1400" b="0" dirty="0" err="1">
                <a:solidFill>
                  <a:srgbClr val="E06C6C"/>
                </a:solidFill>
                <a:latin typeface="Consolas"/>
              </a:rPr>
              <a:t>uploadCsv</a:t>
            </a:r>
            <a:endParaRPr sz="1400" b="0" dirty="0">
              <a:solidFill>
                <a:srgbClr val="E06C6C"/>
              </a:solidFill>
              <a:latin typeface="Consolas"/>
            </a:endParaRPr>
          </a:p>
          <a:p>
            <a:pPr algn="l">
              <a:spcAft>
                <a:spcPts val="300"/>
              </a:spcAft>
            </a:pPr>
            <a:endParaRPr sz="1400" b="0" dirty="0">
              <a:solidFill>
                <a:srgbClr val="E06C6C"/>
              </a:solidFill>
              <a:latin typeface="Consolas"/>
            </a:endParaRPr>
          </a:p>
          <a:p>
            <a:pPr algn="l">
              <a:spcAft>
                <a:spcPts val="300"/>
              </a:spcAft>
            </a:pPr>
            <a:r>
              <a:rPr sz="1300" b="0" dirty="0">
                <a:solidFill>
                  <a:srgbClr val="8A95A8"/>
                </a:solidFill>
                <a:latin typeface="Consolas"/>
              </a:rPr>
              <a:t>→ HTTP 200 </a:t>
            </a:r>
            <a:r>
              <a:rPr sz="1300" b="0" dirty="0" err="1">
                <a:solidFill>
                  <a:srgbClr val="8A95A8"/>
                </a:solidFill>
                <a:latin typeface="Consolas"/>
              </a:rPr>
              <a:t>이지만</a:t>
            </a:r>
            <a:r>
              <a:rPr sz="1300" b="0" dirty="0">
                <a:solidFill>
                  <a:srgbClr val="8A95A8"/>
                </a:solidFill>
                <a:latin typeface="Consolas"/>
              </a:rPr>
              <a:t> HTML </a:t>
            </a:r>
            <a:r>
              <a:rPr sz="1300" b="0" dirty="0" err="1">
                <a:solidFill>
                  <a:srgbClr val="8A95A8"/>
                </a:solidFill>
                <a:latin typeface="Consolas"/>
              </a:rPr>
              <a:t>에러</a:t>
            </a:r>
            <a:endParaRPr sz="1300" b="0" dirty="0">
              <a:solidFill>
                <a:srgbClr val="8A95A8"/>
              </a:solidFill>
              <a:latin typeface="Consolas"/>
            </a:endParaRPr>
          </a:p>
          <a:p>
            <a:pPr algn="l">
              <a:spcAft>
                <a:spcPts val="300"/>
              </a:spcAft>
            </a:pPr>
            <a:r>
              <a:rPr sz="1300" b="0" dirty="0">
                <a:solidFill>
                  <a:srgbClr val="8A95A8"/>
                </a:solidFill>
                <a:latin typeface="Consolas"/>
              </a:rPr>
              <a:t>   </a:t>
            </a:r>
            <a:r>
              <a:rPr sz="1300" b="0" dirty="0" err="1">
                <a:solidFill>
                  <a:srgbClr val="8A95A8"/>
                </a:solidFill>
                <a:latin typeface="Consolas"/>
              </a:rPr>
              <a:t>페이지</a:t>
            </a:r>
            <a:r>
              <a:rPr sz="1300" b="0" dirty="0">
                <a:solidFill>
                  <a:srgbClr val="8A95A8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8A95A8"/>
                </a:solidFill>
                <a:latin typeface="Consolas"/>
              </a:rPr>
              <a:t>반환</a:t>
            </a:r>
            <a:r>
              <a:rPr sz="1300" b="0" dirty="0">
                <a:solidFill>
                  <a:srgbClr val="8A95A8"/>
                </a:solidFill>
                <a:latin typeface="Consolas"/>
              </a:rPr>
              <a:t> (</a:t>
            </a:r>
            <a:r>
              <a:rPr sz="1300" b="0" dirty="0" err="1">
                <a:solidFill>
                  <a:srgbClr val="8A95A8"/>
                </a:solidFill>
                <a:latin typeface="Consolas"/>
              </a:rPr>
              <a:t>실질</a:t>
            </a:r>
            <a:r>
              <a:rPr sz="1300" b="0" dirty="0">
                <a:solidFill>
                  <a:srgbClr val="8A95A8"/>
                </a:solidFill>
                <a:latin typeface="Consolas"/>
              </a:rPr>
              <a:t> 404)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46888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E87422"/>
                </a:solidFill>
                <a:latin typeface="맑은 고딕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828800"/>
            <a:ext cx="4754880" cy="18288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196596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E8B57"/>
                </a:solidFill>
                <a:latin typeface="맑은 고딕"/>
              </a:rPr>
              <a:t>실제 동작 경로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377440"/>
            <a:ext cx="4389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8BD49B"/>
                </a:solidFill>
                <a:latin typeface="Consolas"/>
              </a:rPr>
              <a:t>/invoke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8BD49B"/>
                </a:solidFill>
                <a:latin typeface="Consolas"/>
              </a:rPr>
              <a:t>    /DCT/Sensor/uploadCsv</a:t>
            </a:r>
          </a:p>
          <a:p>
            <a:pPr algn="l">
              <a:spcAft>
                <a:spcPts val="300"/>
              </a:spcAft>
            </a:pPr>
            <a:endParaRPr sz="1400" b="0">
              <a:solidFill>
                <a:srgbClr val="8BD49B"/>
              </a:solidFill>
              <a:latin typeface="Consolas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8BD49B"/>
                </a:solidFill>
                <a:latin typeface="Consolas"/>
              </a:rPr>
              <a:t>→ 200 + status:success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8BD49B"/>
                </a:solidFill>
                <a:latin typeface="Consolas"/>
              </a:rPr>
              <a:t>   DB 적재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F2A4A"/>
                </a:solidFill>
                <a:latin typeface="맑은 고딕"/>
              </a:rPr>
              <a:t>코드 측 대응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7200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553712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F2A4A"/>
                </a:solidFill>
                <a:latin typeface="맑은 고딕"/>
              </a:rPr>
              <a:t>성공 판정을 HTTP 코드만으로 하지 않도록 보강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809744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잘못된 경로도 200+HTML을 주기 때문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5056632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F2A4A"/>
                </a:solidFill>
                <a:latin typeface="맑은 고딕"/>
              </a:rPr>
              <a:t>응답 body의 JSON status=="success"까지 확인하는 가드 추가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312664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isSuccessBody() 신설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7784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5559552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F2A4A"/>
                </a:solidFill>
                <a:latin typeface="맑은 고딕"/>
              </a:rPr>
              <a:t>실패 시 응답 body를 로그에 남겨 원인 추적 가능하게 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0F2A4A"/>
                </a:solidFill>
                <a:latin typeface="맑은 고딕"/>
              </a:rPr>
              <a:t>05-27 → 06-17 상태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</a:rPr>
              <a:t>대기 항목 대부분 검증 완료 — DB 적재 확인만 진행 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731520" cy="54864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Sensor Monitor → 베데스다 iCReaT DCT 서버 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8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3566160" cy="50292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828800"/>
            <a:ext cx="3429000" cy="50292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09560" y="1828800"/>
            <a:ext cx="3520440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2024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05-27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92024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06-17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395728"/>
            <a:ext cx="3566160" cy="60350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2395728"/>
            <a:ext cx="3429000" cy="603504"/>
          </a:xfrm>
          <a:prstGeom prst="rect">
            <a:avLst/>
          </a:prstGeom>
          <a:solidFill>
            <a:srgbClr val="F0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09560" y="2395728"/>
            <a:ext cx="3520440" cy="603504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254203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2A4A"/>
                </a:solidFill>
                <a:latin typeface="맑은 고딕"/>
              </a:rPr>
              <a:t>엔드포인트 URL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54203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미수신 (placeholder)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54203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8B57"/>
                </a:solidFill>
                <a:latin typeface="맑은 고딕"/>
              </a:rPr>
              <a:t>✔ 확정·교정 완료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072384"/>
            <a:ext cx="3566160" cy="60350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34840" y="3072384"/>
            <a:ext cx="3429000" cy="603504"/>
          </a:xfrm>
          <a:prstGeom prst="rect">
            <a:avLst/>
          </a:prstGeom>
          <a:solidFill>
            <a:srgbClr val="F0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09560" y="3072384"/>
            <a:ext cx="3520440" cy="603504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21868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2A4A"/>
                </a:solidFill>
                <a:latin typeface="맑은 고딕"/>
              </a:rPr>
              <a:t>테스트 Study/Subject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21868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미수신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21868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8B57"/>
                </a:solidFill>
                <a:latin typeface="맑은 고딕"/>
              </a:rPr>
              <a:t>✔ C250005 / 121-001 적용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749040"/>
            <a:ext cx="3566160" cy="60350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34840" y="3749040"/>
            <a:ext cx="3429000" cy="603504"/>
          </a:xfrm>
          <a:prstGeom prst="rect">
            <a:avLst/>
          </a:prstGeom>
          <a:solidFill>
            <a:srgbClr val="F0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909560" y="3749040"/>
            <a:ext cx="3520440" cy="603504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389534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2A4A"/>
                </a:solidFill>
                <a:latin typeface="맑은 고딕"/>
              </a:rPr>
              <a:t>응답 규격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895344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가정(200)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389534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8B57"/>
                </a:solidFill>
                <a:latin typeface="맑은 고딕"/>
              </a:rPr>
              <a:t>✔ 200/401/403/405/406 확인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4425696"/>
            <a:ext cx="3566160" cy="60350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34840" y="4425696"/>
            <a:ext cx="3429000" cy="603504"/>
          </a:xfrm>
          <a:prstGeom prst="rect">
            <a:avLst/>
          </a:prstGeom>
          <a:solidFill>
            <a:srgbClr val="F0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09560" y="4425696"/>
            <a:ext cx="3520440" cy="603504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5840" y="45720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2A4A"/>
                </a:solidFill>
                <a:latin typeface="맑은 고딕"/>
              </a:rPr>
              <a:t>단독 전송 검증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5720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미실시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45720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8B57"/>
                </a:solidFill>
                <a:latin typeface="맑은 고딕"/>
              </a:rPr>
              <a:t>✔ 통과 (200+success)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5102352"/>
            <a:ext cx="3566160" cy="60350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434840" y="5102352"/>
            <a:ext cx="3429000" cy="603504"/>
          </a:xfrm>
          <a:prstGeom prst="rect">
            <a:avLst/>
          </a:prstGeom>
          <a:solidFill>
            <a:srgbClr val="F0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909560" y="5102352"/>
            <a:ext cx="3520440" cy="603504"/>
          </a:xfrm>
          <a:prstGeom prst="rect">
            <a:avLst/>
          </a:prstGeom>
          <a:solidFill>
            <a:srgbClr val="FB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05840" y="524865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2A4A"/>
                </a:solidFill>
                <a:latin typeface="맑은 고딕"/>
              </a:rPr>
              <a:t>서버 DB 적재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5248656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미확인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524865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87422"/>
                </a:solidFill>
                <a:latin typeface="맑은 고딕"/>
              </a:rPr>
              <a:t>… 담당자 확인 요청 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0F2A4A"/>
                </a:solidFill>
                <a:latin typeface="맑은 고딕"/>
              </a:rPr>
              <a:t>앞으로 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</a:rPr>
              <a:t>앱 종단간 → QR 스캔 → 인증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731520" cy="54864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Sensor Monitor → 베데스다 iCReaT DCT 서버 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9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011680"/>
            <a:ext cx="2011680" cy="1005840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340864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다음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2011680"/>
            <a:ext cx="8458200" cy="1005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2176272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앱 종단간 테스트 — 워치→앱→서버 30분 사이클 자동 전송 및 다중 센서/연속 전송 확인함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291840"/>
            <a:ext cx="2011680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621024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Phase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3291840"/>
            <a:ext cx="8458200" cy="1005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3456432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QR 스캔 기능 추가 — 카메라로 Study/Subject 자동 입력, 테스트 하드코딩 제거함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572000"/>
            <a:ext cx="2011680" cy="10058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901184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후속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1800" y="4572000"/>
            <a:ext cx="8458200" cy="1005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46120" y="4736592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인증(세션/API Key) 및 중복·오류코드(401/405) 운영 대응은 업로드 안정화 후 논의함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731520" cy="73152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2860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맑은 고딕"/>
              </a:rPr>
              <a:t>05-27엔 코드 준비만 끝났고, 서버 값(엔드포인트·테스트ID) 대기 상태였음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9923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9923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맑은 고딕"/>
              </a:rPr>
              <a:t>이후 베데스다 API 가이드를 정식 수신하고 실값을 코드에 반영했음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1246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712464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맑은 고딕"/>
              </a:rPr>
              <a:t>가이드 경로가 그대로는 동작하지 않아 진단·교정했음 (루트 /invoke 경로)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2569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425696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맑은 고딕"/>
              </a:rPr>
              <a:t>단독 전송 검증 통과 — 200 + status:success 응답 확인함 (DB 적재는 담당자 확인 요청 중)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3892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13892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맑은 고딕"/>
              </a:rPr>
              <a:t>다음은 적재 확인 회신 받고, 앱 종단간(30분 사이클) 테스트 → QR 스캔·인증 순서로 진행함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814</Words>
  <Application>Microsoft Office PowerPoint</Application>
  <PresentationFormat>와이드스크린</PresentationFormat>
  <Paragraphs>143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GACHON</cp:lastModifiedBy>
  <cp:revision>2</cp:revision>
  <dcterms:created xsi:type="dcterms:W3CDTF">2013-01-27T09:14:16Z</dcterms:created>
  <dcterms:modified xsi:type="dcterms:W3CDTF">2026-06-16T08:50:09Z</dcterms:modified>
  <cp:category/>
</cp:coreProperties>
</file>
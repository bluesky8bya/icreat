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73152"/>
          </a:xfrm>
          <a:prstGeom prst="rect">
            <a:avLst/>
          </a:prstGeom>
          <a:solidFill>
            <a:srgbClr val="E87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332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ICReaT 과제 진행상황 보고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C8D4E4"/>
                </a:solidFill>
                <a:latin typeface="맑은 고딕"/>
              </a:rPr>
              <a:t>Sensor Monitor → 베데스다 iCReaT DCT 서버 CSV 업로드 전환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9FB0C8"/>
                </a:solidFill>
                <a:latin typeface="맑은 고딕"/>
              </a:rPr>
              <a:t>2026-05-27  ·  직전 보고(2026-05-13) 이후 경과 중심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0F2A4A"/>
                </a:solidFill>
                <a:latin typeface="맑은 고딕"/>
              </a:rPr>
              <a:t>2주 전(05-13) 시점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666666"/>
                </a:solidFill>
                <a:latin typeface="맑은 고딕"/>
              </a:rPr>
              <a:t>조사·협의 단계였음 — 코드는 아직 손대기 전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731520" cy="54864"/>
          </a:xfrm>
          <a:prstGeom prst="rect">
            <a:avLst/>
          </a:prstGeom>
          <a:solidFill>
            <a:srgbClr val="E87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</a:rPr>
              <a:t>Sensor Monitor → 베데스다 iCReaT DCT 서버 전환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7395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</a:rPr>
              <a:t>2 / 9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45920"/>
            <a:ext cx="10881360" cy="54864"/>
          </a:xfrm>
          <a:prstGeom prst="rect">
            <a:avLst/>
          </a:prstGeom>
          <a:solidFill>
            <a:srgbClr val="8A9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920240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E87422"/>
                </a:solidFill>
                <a:latin typeface="맑은 고딕"/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901952"/>
            <a:ext cx="10131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F2A4A"/>
                </a:solidFill>
                <a:latin typeface="맑은 고딕"/>
              </a:rPr>
              <a:t>기존 앱/서버 CSV 업로드 구조를 코드 기준으로 확인했음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157984"/>
            <a:ext cx="10131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맑은 고딕"/>
              </a:rPr>
              <a:t>강원대 Python/Django 수신, 앱은 OkHttp multipart 전송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33472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E87422"/>
                </a:solidFill>
                <a:latin typeface="맑은 고딕"/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2615184"/>
            <a:ext cx="10131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F2A4A"/>
                </a:solidFill>
                <a:latin typeface="맑은 고딕"/>
              </a:rPr>
              <a:t>베데스다 회신을 분석해 변경사항을 정리했음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2871216"/>
            <a:ext cx="10131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맑은 고딕"/>
              </a:rPr>
              <a:t>userID → studyId/subjectId 필요, 무인증(a) 먼저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346704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E87422"/>
                </a:solidFill>
                <a:latin typeface="맑은 고딕"/>
              </a:rPr>
              <a:t>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3328416"/>
            <a:ext cx="10131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F2A4A"/>
                </a:solidFill>
                <a:latin typeface="맑은 고딕"/>
              </a:rPr>
              <a:t>구현 가능한 부분과 베데스다 확인 필요 부분을 분리했음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059936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E87422"/>
                </a:solidFill>
                <a:latin typeface="맑은 고딕"/>
              </a:rPr>
              <a:t>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4041648"/>
            <a:ext cx="10131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F2A4A"/>
                </a:solidFill>
                <a:latin typeface="맑은 고딕"/>
              </a:rPr>
              <a:t>산출물만 정리한 상태였음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4297680"/>
            <a:ext cx="10131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맑은 고딕"/>
              </a:rPr>
              <a:t>회신 메일 초안 · multipart 레퍼런스 · 회신 분석 · 샘플 데이터(sensor_data.zip)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5669280"/>
            <a:ext cx="10424160" cy="6400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22960" y="5669280"/>
            <a:ext cx="91440" cy="640080"/>
          </a:xfrm>
          <a:prstGeom prst="rect">
            <a:avLst/>
          </a:prstGeom>
          <a:solidFill>
            <a:srgbClr val="E87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97280" y="5824728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F2A4A"/>
                </a:solidFill>
                <a:latin typeface="맑은 고딕"/>
              </a:rPr>
              <a:t>→ 이 시점엔 코드 수정 전이었고, 베데스다 회신·확인을 요청하기 직전 상태였음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0F2A4A"/>
                </a:solidFill>
                <a:latin typeface="맑은 고딕"/>
              </a:rPr>
              <a:t>05-13 이후 경과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666666"/>
                </a:solidFill>
                <a:latin typeface="맑은 고딕"/>
              </a:rPr>
              <a:t>회신 → 명세 합의 → QR 분석 → 코드 수정 → 테스트 준비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731520" cy="54864"/>
          </a:xfrm>
          <a:prstGeom prst="rect">
            <a:avLst/>
          </a:prstGeom>
          <a:solidFill>
            <a:srgbClr val="E87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</a:rPr>
              <a:t>Sensor Monitor → 베데스다 iCReaT DCT 서버 전환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7395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</a:rPr>
              <a:t>3 / 9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883664"/>
            <a:ext cx="502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810512"/>
            <a:ext cx="9875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0F2A4A"/>
                </a:solidFill>
                <a:latin typeface="맑은 고딕"/>
              </a:rPr>
              <a:t>베데스다에 회신 메일 발송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139696"/>
            <a:ext cx="9875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666666"/>
                </a:solidFill>
                <a:latin typeface="맑은 고딕"/>
              </a:rPr>
              <a:t>전송 항목 확인, 테스트용 ID·신규 서버 주소 요청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706624"/>
            <a:ext cx="502920" cy="5029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2761488"/>
            <a:ext cx="502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688336"/>
            <a:ext cx="9875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0F2A4A"/>
                </a:solidFill>
                <a:latin typeface="맑은 고딕"/>
              </a:rPr>
              <a:t>답변으로 명세 합의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017520"/>
            <a:ext cx="9875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666666"/>
                </a:solidFill>
                <a:latin typeface="맑은 고딕"/>
              </a:rPr>
              <a:t>엔드포인트 추가 확약, Study/Subject ID 필수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584448"/>
            <a:ext cx="502920" cy="5029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3639312"/>
            <a:ext cx="502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566160"/>
            <a:ext cx="9875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0F2A4A"/>
                </a:solidFill>
                <a:latin typeface="맑은 고딕"/>
              </a:rPr>
              <a:t>QR 매칭 구조 분석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9875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666666"/>
                </a:solidFill>
                <a:latin typeface="맑은 고딕"/>
              </a:rPr>
              <a:t>작년 앱이 QR로 Study/Subject를 매칭하는 방식 확인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4462272"/>
            <a:ext cx="502920" cy="502920"/>
          </a:xfrm>
          <a:prstGeom prst="rect">
            <a:avLst/>
          </a:prstGeom>
          <a:solidFill>
            <a:srgbClr val="E87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4517136"/>
            <a:ext cx="502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443984"/>
            <a:ext cx="9875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0F2A4A"/>
                </a:solidFill>
                <a:latin typeface="맑은 고딕"/>
              </a:rPr>
              <a:t>앱 코드 1차 수정 완료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773168"/>
            <a:ext cx="9875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666666"/>
                </a:solidFill>
                <a:latin typeface="맑은 고딕"/>
              </a:rPr>
              <a:t>전송 규격을 베데스다 형식으로 전환 — 이번 보고 핵심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5340096"/>
            <a:ext cx="502920" cy="5029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5394960"/>
            <a:ext cx="502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5321808"/>
            <a:ext cx="9875520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dirty="0" err="1">
                <a:solidFill>
                  <a:srgbClr val="0F2A4A"/>
                </a:solidFill>
                <a:latin typeface="맑은 고딕"/>
              </a:rPr>
              <a:t>오늘</a:t>
            </a:r>
            <a:r>
              <a:rPr sz="1700" b="1" dirty="0">
                <a:solidFill>
                  <a:srgbClr val="0F2A4A"/>
                </a:solidFill>
                <a:latin typeface="맑은 고딕"/>
              </a:rPr>
              <a:t> </a:t>
            </a:r>
            <a:r>
              <a:rPr sz="1700" b="1" dirty="0" err="1">
                <a:solidFill>
                  <a:srgbClr val="0F2A4A"/>
                </a:solidFill>
                <a:latin typeface="맑은 고딕"/>
              </a:rPr>
              <a:t>오후</a:t>
            </a:r>
            <a:r>
              <a:rPr sz="1700" b="1" dirty="0">
                <a:solidFill>
                  <a:srgbClr val="0F2A4A"/>
                </a:solidFill>
                <a:latin typeface="맑은 고딕"/>
              </a:rPr>
              <a:t> </a:t>
            </a:r>
            <a:r>
              <a:rPr sz="1700" b="1" dirty="0" err="1">
                <a:solidFill>
                  <a:srgbClr val="0F2A4A"/>
                </a:solidFill>
                <a:latin typeface="맑은 고딕"/>
              </a:rPr>
              <a:t>테스트</a:t>
            </a:r>
            <a:r>
              <a:rPr sz="1700" b="1" dirty="0">
                <a:solidFill>
                  <a:srgbClr val="0F2A4A"/>
                </a:solidFill>
                <a:latin typeface="맑은 고딕"/>
              </a:rPr>
              <a:t> </a:t>
            </a:r>
            <a:r>
              <a:rPr sz="1700" b="1" dirty="0" err="1">
                <a:solidFill>
                  <a:srgbClr val="0F2A4A"/>
                </a:solidFill>
                <a:latin typeface="맑은 고딕"/>
              </a:rPr>
              <a:t>준비</a:t>
            </a:r>
            <a:endParaRPr sz="1700" b="1" dirty="0">
              <a:solidFill>
                <a:srgbClr val="0F2A4A"/>
              </a:solidFill>
              <a:latin typeface="맑은 고딕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508760" y="5650992"/>
            <a:ext cx="98755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ko-KR" altLang="en-US" sz="1300" dirty="0" err="1">
                <a:solidFill>
                  <a:srgbClr val="666666"/>
                </a:solidFill>
                <a:latin typeface="맑은 고딕"/>
              </a:rPr>
              <a:t>가천대</a:t>
            </a:r>
            <a:r>
              <a:rPr lang="ko-KR" altLang="en-US" sz="1300" dirty="0">
                <a:solidFill>
                  <a:srgbClr val="666666"/>
                </a:solidFill>
                <a:latin typeface="맑은 고딕"/>
              </a:rPr>
              <a:t> 측도 </a:t>
            </a:r>
            <a:r>
              <a:rPr sz="1300" b="0" dirty="0" err="1">
                <a:solidFill>
                  <a:srgbClr val="666666"/>
                </a:solidFill>
                <a:latin typeface="맑은 고딕"/>
              </a:rPr>
              <a:t>테스트</a:t>
            </a:r>
            <a:r>
              <a:rPr sz="1300" b="0" dirty="0">
                <a:solidFill>
                  <a:srgbClr val="666666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666666"/>
                </a:solidFill>
                <a:latin typeface="맑은 고딕"/>
              </a:rPr>
              <a:t>준비</a:t>
            </a:r>
            <a:r>
              <a:rPr sz="1300" b="0" dirty="0">
                <a:solidFill>
                  <a:srgbClr val="666666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666666"/>
                </a:solidFill>
                <a:latin typeface="맑은 고딕"/>
              </a:rPr>
              <a:t>상태로</a:t>
            </a:r>
            <a:r>
              <a:rPr sz="1300" b="0" dirty="0">
                <a:solidFill>
                  <a:srgbClr val="666666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666666"/>
                </a:solidFill>
                <a:latin typeface="맑은 고딕"/>
              </a:rPr>
              <a:t>정렬했음</a:t>
            </a:r>
            <a:endParaRPr sz="1300" b="0" dirty="0">
              <a:solidFill>
                <a:srgbClr val="666666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0F2A4A"/>
                </a:solidFill>
                <a:latin typeface="맑은 고딕"/>
              </a:rPr>
              <a:t>베데스다 합의 내용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666666"/>
                </a:solidFill>
                <a:latin typeface="맑은 고딕"/>
              </a:rPr>
              <a:t>내일 테스트의 전제 — 메일로 확정한 사항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731520" cy="54864"/>
          </a:xfrm>
          <a:prstGeom prst="rect">
            <a:avLst/>
          </a:prstGeom>
          <a:solidFill>
            <a:srgbClr val="E87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</a:rPr>
              <a:t>Sensor Monitor → 베데스다 iCReaT DCT 서버 전환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7395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</a:rPr>
              <a:t>4 / 9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828800"/>
            <a:ext cx="5303520" cy="420624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20116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E87422"/>
                </a:solidFill>
                <a:latin typeface="맑은 고딕"/>
              </a:rPr>
              <a:t>전송 multipart 필드 (5종)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51460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E0E6F0"/>
                </a:solidFill>
                <a:latin typeface="Consolas"/>
              </a:rPr>
              <a:t>csvfile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532888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8A95A8"/>
                </a:solidFill>
                <a:latin typeface="맑은 고딕"/>
              </a:rPr>
              <a:t>센서별 30분 병합 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081528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E0E6F0"/>
                </a:solidFill>
                <a:latin typeface="Consolas"/>
              </a:rPr>
              <a:t>studyId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3099816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8A95A8"/>
                </a:solidFill>
                <a:latin typeface="맑은 고딕"/>
              </a:rPr>
              <a:t>Study ID (신규)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648456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E0E6F0"/>
                </a:solidFill>
                <a:latin typeface="Consolas"/>
              </a:rPr>
              <a:t>subjectId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666744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8A95A8"/>
                </a:solidFill>
                <a:latin typeface="맑은 고딕"/>
              </a:rPr>
              <a:t>Subject ID (신규)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215384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E0E6F0"/>
                </a:solidFill>
                <a:latin typeface="Consolas"/>
              </a:rPr>
              <a:t>battery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4233672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8A95A8"/>
                </a:solidFill>
                <a:latin typeface="맑은 고딕"/>
              </a:rPr>
              <a:t>워치 배터리 잔량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782312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E0E6F0"/>
                </a:solidFill>
                <a:latin typeface="Consolas"/>
              </a:rPr>
              <a:t>timestamp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480060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8A95A8"/>
                </a:solidFill>
                <a:latin typeface="맑은 고딕"/>
              </a:rPr>
              <a:t>전송 시각, Unix epoch 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82880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F2A4A"/>
                </a:solidFill>
                <a:latin typeface="맑은 고딕"/>
              </a:rPr>
              <a:t>정책 합의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331720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E87422"/>
                </a:solidFill>
                <a:latin typeface="맑은 고딕"/>
              </a:rPr>
              <a:t>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4848" y="2313432"/>
            <a:ext cx="4645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F2A4A"/>
                </a:solidFill>
                <a:latin typeface="맑은 고딕"/>
              </a:rPr>
              <a:t>별도 인증 없이 먼저 진행함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4848" y="2569464"/>
            <a:ext cx="4645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맑은 고딕"/>
              </a:rPr>
              <a:t>데이터 수집 연동부터 검증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081528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E87422"/>
                </a:solidFill>
                <a:latin typeface="맑은 고딕"/>
              </a:rPr>
              <a:t>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84848" y="3063240"/>
            <a:ext cx="4645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F2A4A"/>
                </a:solidFill>
                <a:latin typeface="맑은 고딕"/>
              </a:rPr>
              <a:t>기존 userID는 제거함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84848" y="3319272"/>
            <a:ext cx="4645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dirty="0" err="1">
                <a:solidFill>
                  <a:srgbClr val="333333"/>
                </a:solidFill>
                <a:latin typeface="맑은 고딕"/>
              </a:rPr>
              <a:t>여러</a:t>
            </a:r>
            <a:r>
              <a:rPr sz="1100" b="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맑은 고딕"/>
              </a:rPr>
              <a:t>과제</a:t>
            </a:r>
            <a:r>
              <a:rPr sz="1100" b="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맑은 고딕"/>
              </a:rPr>
              <a:t>운영</a:t>
            </a:r>
            <a:r>
              <a:rPr sz="1100" b="0" dirty="0">
                <a:solidFill>
                  <a:srgbClr val="333333"/>
                </a:solidFill>
                <a:latin typeface="맑은 고딕"/>
              </a:rPr>
              <a:t> → Study/Subject ID </a:t>
            </a:r>
            <a:r>
              <a:rPr sz="1100" b="0" dirty="0" err="1">
                <a:solidFill>
                  <a:srgbClr val="333333"/>
                </a:solidFill>
                <a:latin typeface="맑은 고딕"/>
              </a:rPr>
              <a:t>필수</a:t>
            </a:r>
            <a:endParaRPr sz="1100" b="0" dirty="0">
              <a:solidFill>
                <a:srgbClr val="333333"/>
              </a:solidFill>
              <a:latin typeface="맑은 고딕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492240" y="3881628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E87422"/>
                </a:solidFill>
                <a:latin typeface="맑은 고딕"/>
              </a:rPr>
              <a:t>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84848" y="3863340"/>
            <a:ext cx="4645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F2A4A"/>
                </a:solidFill>
                <a:latin typeface="맑은 고딕"/>
              </a:rPr>
              <a:t>Study/Subject는 QR 매칭이 최종형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84848" y="4119372"/>
            <a:ext cx="4645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맑은 고딕"/>
              </a:rPr>
              <a:t>작년 앱 구조 참조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631436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E87422"/>
                </a:solidFill>
                <a:latin typeface="맑은 고딕"/>
              </a:rPr>
              <a:t>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84848" y="4613148"/>
            <a:ext cx="4645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F2A4A"/>
                </a:solidFill>
                <a:latin typeface="맑은 고딕"/>
              </a:rPr>
              <a:t>QR 전까지 테스트용 ID로 검증함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84848" y="4869180"/>
            <a:ext cx="4645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맑은 고딕"/>
              </a:rPr>
              <a:t>베데스다가 테스트값 제공 예정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0F2A4A"/>
                </a:solidFill>
                <a:latin typeface="맑은 고딕"/>
              </a:rPr>
              <a:t>이번에 수정한 코드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666666"/>
                </a:solidFill>
                <a:latin typeface="맑은 고딕"/>
              </a:rPr>
              <a:t>QR보다 먼저 — 베데스다 서버가 데이터를 받는지 검증하기 위한 최소 변경, 5개 파일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731520" cy="54864"/>
          </a:xfrm>
          <a:prstGeom prst="rect">
            <a:avLst/>
          </a:prstGeom>
          <a:solidFill>
            <a:srgbClr val="E87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</a:rPr>
              <a:t>Sensor Monitor → 베데스다 iCReaT DCT 서버 전환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7395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</a:rPr>
              <a:t>5 / 9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828800"/>
            <a:ext cx="3291840" cy="74980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" y="1828800"/>
            <a:ext cx="91440" cy="749808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201168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F2A4A"/>
                </a:solidFill>
                <a:latin typeface="Consolas"/>
              </a:rPr>
              <a:t>DeviceInfo.kt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947672"/>
            <a:ext cx="71323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맑은 고딕"/>
              </a:rPr>
              <a:t>식별자를 userID → Study/Subject ID로 전환, 테스트용 값 자리 마련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706624"/>
            <a:ext cx="3291840" cy="74980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" y="2706624"/>
            <a:ext cx="91440" cy="749808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2889504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F2A4A"/>
                </a:solidFill>
                <a:latin typeface="Consolas"/>
              </a:rPr>
              <a:t>ServerConnection.kt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825496"/>
            <a:ext cx="71323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맑은 고딕"/>
              </a:rPr>
              <a:t>전송 주소를 신규 베데스다 서버로, 전송 항목을 합의 형식으로 교체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584448"/>
            <a:ext cx="3291840" cy="74980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60" y="3584448"/>
            <a:ext cx="91440" cy="749808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1560" y="3767328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F2A4A"/>
                </a:solidFill>
                <a:latin typeface="Consolas"/>
              </a:rPr>
              <a:t>AcceptService.kt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3703320"/>
            <a:ext cx="71323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맑은 고딕"/>
              </a:rPr>
              <a:t>30분 주기 업로드 호출부를 새 식별자 기준으로 교체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4462272"/>
            <a:ext cx="3291840" cy="74980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22960" y="4462272"/>
            <a:ext cx="91440" cy="749808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51560" y="4645152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F2A4A"/>
                </a:solidFill>
                <a:latin typeface="Consolas"/>
              </a:rPr>
              <a:t>LoginActivity.kt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581144"/>
            <a:ext cx="71323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맑은 고딕"/>
              </a:rPr>
              <a:t>로그인 화면이 새 구조로 바로 진입하도록 변경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5340096"/>
            <a:ext cx="3291840" cy="74980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22960" y="5340096"/>
            <a:ext cx="91440" cy="749808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51560" y="5522976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F2A4A"/>
                </a:solidFill>
                <a:latin typeface="Consolas"/>
              </a:rPr>
              <a:t>SensorActivity.kt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5458968"/>
            <a:ext cx="71323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맑은 고딕"/>
              </a:rPr>
              <a:t>진입 시 Study/Subject 식별자로 초기화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0F2A4A"/>
                </a:solidFill>
                <a:latin typeface="맑은 고딕"/>
              </a:rPr>
              <a:t>전송 페이로드 변경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666666"/>
                </a:solidFill>
                <a:latin typeface="맑은 고딕"/>
              </a:rPr>
              <a:t>구 강원대(HTTP) → 베데스다(HTTPS), 필드 4종 → 5종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731520" cy="54864"/>
          </a:xfrm>
          <a:prstGeom prst="rect">
            <a:avLst/>
          </a:prstGeom>
          <a:solidFill>
            <a:srgbClr val="E87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</a:rPr>
              <a:t>Sensor Monitor → 베데스다 iCReaT DCT 서버 전환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7395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</a:rPr>
              <a:t>6 / 9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920240"/>
            <a:ext cx="5120640" cy="329184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210312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8A95A8"/>
                </a:solidFill>
                <a:latin typeface="맑은 고딕"/>
              </a:rPr>
              <a:t>변경 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560320"/>
            <a:ext cx="475488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8A95A8"/>
                </a:solidFill>
                <a:latin typeface="Consolas"/>
              </a:rPr>
              <a:t>POST http://114.70.120.121:443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8A95A8"/>
                </a:solidFill>
                <a:latin typeface="Consolas"/>
              </a:rPr>
              <a:t>        /forUser/postCurrentData/</a:t>
            </a:r>
          </a:p>
          <a:p>
            <a:pPr algn="l">
              <a:spcAft>
                <a:spcPts val="400"/>
              </a:spcAft>
            </a:pPr>
            <a:endParaRPr sz="1500" b="0">
              <a:solidFill>
                <a:srgbClr val="8A95A8"/>
              </a:solidFill>
              <a:latin typeface="Consolas"/>
            </a:endParaRP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E0E6F0"/>
                </a:solidFill>
                <a:latin typeface="Consolas"/>
              </a:rPr>
              <a:t>csvfile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E06C6C"/>
                </a:solidFill>
                <a:latin typeface="Consolas"/>
              </a:rPr>
              <a:t>userID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E0E6F0"/>
                </a:solidFill>
                <a:latin typeface="Consolas"/>
              </a:rPr>
              <a:t>battery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E0E6F0"/>
                </a:solidFill>
                <a:latin typeface="Consolas"/>
              </a:rPr>
              <a:t>timestamp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3291840"/>
            <a:ext cx="640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4000" b="1">
                <a:solidFill>
                  <a:srgbClr val="E87422"/>
                </a:solidFill>
                <a:latin typeface="맑은 고딕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1920240"/>
            <a:ext cx="4754880" cy="329184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03720" y="210312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E87422"/>
                </a:solidFill>
                <a:latin typeface="맑은 고딕"/>
              </a:rPr>
              <a:t>변경 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2560320"/>
            <a:ext cx="438912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E8B57"/>
                </a:solidFill>
                <a:latin typeface="Consolas"/>
              </a:rPr>
              <a:t>POST https://icreatdct.btsd.io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E8B57"/>
                </a:solidFill>
                <a:latin typeface="Consolas"/>
              </a:rPr>
              <a:t>        /&lt;신규 경로&gt;</a:t>
            </a:r>
          </a:p>
          <a:p>
            <a:pPr algn="l">
              <a:spcAft>
                <a:spcPts val="400"/>
              </a:spcAft>
            </a:pPr>
            <a:endParaRPr sz="1500" b="0">
              <a:solidFill>
                <a:srgbClr val="2E8B57"/>
              </a:solidFill>
              <a:latin typeface="Consolas"/>
            </a:endParaRP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E0E6F0"/>
                </a:solidFill>
                <a:latin typeface="Consolas"/>
              </a:rPr>
              <a:t>csvfile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8BD49B"/>
                </a:solidFill>
                <a:latin typeface="Consolas"/>
              </a:rPr>
              <a:t>studyId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8BD49B"/>
                </a:solidFill>
                <a:latin typeface="Consolas"/>
              </a:rPr>
              <a:t>subjectId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E0E6F0"/>
                </a:solidFill>
                <a:latin typeface="Consolas"/>
              </a:rPr>
              <a:t>battery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E0E6F0"/>
                </a:solidFill>
                <a:latin typeface="Consolas"/>
              </a:rPr>
              <a:t>timestamp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577840"/>
            <a:ext cx="106070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666666"/>
                </a:solidFill>
                <a:latin typeface="맑은 고딕"/>
              </a:rPr>
              <a:t>식별자 구조도 단일 userID → Study/Subject ID로 바꿨음. 지금은 테스트용 값으로 검증하고, 이후 QR 스캔으로 자동 입력되도록 확장할 예정임.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0F2A4A"/>
                </a:solidFill>
                <a:latin typeface="맑은 고딕"/>
              </a:rPr>
              <a:t>오늘 오후 테스트 준비 상태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666666"/>
                </a:solidFill>
                <a:latin typeface="맑은 고딕"/>
              </a:rPr>
              <a:t>코드는 준비 완료 — 두 가지만 반영하면 바로 테스트 가능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731520" cy="54864"/>
          </a:xfrm>
          <a:prstGeom prst="rect">
            <a:avLst/>
          </a:prstGeom>
          <a:solidFill>
            <a:srgbClr val="E87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</a:rPr>
              <a:t>Sensor Monitor → 베데스다 iCReaT DCT 서버 전환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7395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</a:rPr>
              <a:t>7 /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F2A4A"/>
                </a:solidFill>
                <a:latin typeface="맑은 고딕"/>
              </a:rPr>
              <a:t>베데스다로부터 받는 즉시 반영할 항목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286000"/>
            <a:ext cx="5212080" cy="13716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2286000"/>
            <a:ext cx="91440" cy="1371600"/>
          </a:xfrm>
          <a:prstGeom prst="rect">
            <a:avLst/>
          </a:prstGeom>
          <a:solidFill>
            <a:srgbClr val="E87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246888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E87422"/>
                </a:solidFill>
                <a:latin typeface="맑은 고딕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487168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F2A4A"/>
                </a:solidFill>
                <a:latin typeface="맑은 고딕"/>
              </a:rPr>
              <a:t>신규 서버 주소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944368"/>
            <a:ext cx="4206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333333"/>
                </a:solidFill>
                <a:latin typeface="맑은 고딕"/>
              </a:rPr>
              <a:t>전송 대상 엔드포인트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286000"/>
            <a:ext cx="5212080" cy="13716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09360" y="2286000"/>
            <a:ext cx="91440" cy="1371600"/>
          </a:xfrm>
          <a:prstGeom prst="rect">
            <a:avLst/>
          </a:prstGeom>
          <a:solidFill>
            <a:srgbClr val="E87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246888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E87422"/>
                </a:solidFill>
                <a:latin typeface="맑은 고딕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2487168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F2A4A"/>
                </a:solidFill>
                <a:latin typeface="맑은 고딕"/>
              </a:rPr>
              <a:t>테스트용 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944368"/>
            <a:ext cx="4206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333333"/>
                </a:solidFill>
                <a:latin typeface="맑은 고딕"/>
              </a:rPr>
              <a:t>Study ID / Subject ID 한 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0233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F2A4A"/>
                </a:solidFill>
                <a:latin typeface="맑은 고딕"/>
              </a:rPr>
              <a:t>테스트 절차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526280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E87422"/>
                </a:solidFill>
                <a:latin typeface="맑은 고딕"/>
              </a:rPr>
              <a:t>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4507992"/>
            <a:ext cx="10131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F2A4A"/>
                </a:solidFill>
                <a:latin typeface="맑은 고딕"/>
              </a:rPr>
              <a:t>받은 주소로 단독 전송 검증함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4764024"/>
            <a:ext cx="10131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맑은 고딕"/>
              </a:rPr>
              <a:t>준비된 샘플 CSV 사용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093208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E87422"/>
                </a:solidFill>
                <a:latin typeface="맑은 고딕"/>
              </a:rPr>
              <a:t>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5074920"/>
            <a:ext cx="10131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F2A4A"/>
                </a:solidFill>
                <a:latin typeface="맑은 고딕"/>
              </a:rPr>
              <a:t>값 반영 후 디버그 빌드 → 30분 주기 종단간 전송함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660136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E87422"/>
                </a:solidFill>
                <a:latin typeface="맑은 고딕"/>
              </a:rPr>
              <a:t>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" y="5641848"/>
            <a:ext cx="10131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F2A4A"/>
                </a:solidFill>
                <a:latin typeface="맑은 고딕"/>
              </a:rPr>
              <a:t>전송 성공 로그 + 베데스다 측 적재 여부 확인함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" y="5897880"/>
            <a:ext cx="10131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맑은 고딕"/>
              </a:rPr>
              <a:t>담당자 협조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0F2A4A"/>
                </a:solidFill>
                <a:latin typeface="맑은 고딕"/>
              </a:rPr>
              <a:t>앞으로 할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666666"/>
                </a:solidFill>
                <a:latin typeface="맑은 고딕"/>
              </a:rPr>
              <a:t>오늘 → QR 스캔 → 후속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731520" cy="54864"/>
          </a:xfrm>
          <a:prstGeom prst="rect">
            <a:avLst/>
          </a:prstGeom>
          <a:solidFill>
            <a:srgbClr val="E87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</a:rPr>
              <a:t>Sensor Monitor → 베데스다 iCReaT DCT 서버 전환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7395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</a:rPr>
              <a:t>8 / 9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011680"/>
            <a:ext cx="2011680" cy="1005840"/>
          </a:xfrm>
          <a:prstGeom prst="rect">
            <a:avLst/>
          </a:prstGeom>
          <a:solidFill>
            <a:srgbClr val="E87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340864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맑은 고딕"/>
              </a:rPr>
              <a:t>오늘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71800" y="2011680"/>
            <a:ext cx="8458200" cy="10058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46120" y="2176272"/>
            <a:ext cx="80467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333333"/>
                </a:solidFill>
                <a:latin typeface="맑은 고딕"/>
              </a:rPr>
              <a:t>서버 주소·테스트 ID 수신 → 단독 검증 → 앱 종단간 테스트 → 적재 확인함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325112"/>
            <a:ext cx="2011680" cy="10058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4654296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맑은 고딕"/>
              </a:rPr>
              <a:t>다음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71800" y="4325112"/>
            <a:ext cx="8458200" cy="10058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46120" y="4489704"/>
            <a:ext cx="80467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333333"/>
                </a:solidFill>
                <a:latin typeface="맑은 고딕"/>
              </a:rPr>
              <a:t>QR 스캔 기능 추가 — 카메라로 QR을 읽어 Study/Subject 자동 입력, 테스트용 값 제거함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666</Words>
  <Application>Microsoft Office PowerPoint</Application>
  <PresentationFormat>와이드스크린</PresentationFormat>
  <Paragraphs>131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GACHON</cp:lastModifiedBy>
  <cp:revision>3</cp:revision>
  <dcterms:created xsi:type="dcterms:W3CDTF">2013-01-27T09:14:16Z</dcterms:created>
  <dcterms:modified xsi:type="dcterms:W3CDTF">2026-05-26T10:36:30Z</dcterms:modified>
  <cp:category/>
</cp:coreProperties>
</file>